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2" r:id="rId4"/>
    <p:sldId id="269" r:id="rId5"/>
    <p:sldId id="264" r:id="rId6"/>
    <p:sldId id="292" r:id="rId7"/>
    <p:sldId id="291" r:id="rId8"/>
    <p:sldId id="290" r:id="rId9"/>
    <p:sldId id="294" r:id="rId10"/>
    <p:sldId id="295" r:id="rId11"/>
    <p:sldId id="296" r:id="rId12"/>
    <p:sldId id="288" r:id="rId13"/>
    <p:sldId id="263" r:id="rId14"/>
    <p:sldId id="266" r:id="rId15"/>
    <p:sldId id="265" r:id="rId16"/>
    <p:sldId id="261" r:id="rId17"/>
    <p:sldId id="260" r:id="rId18"/>
    <p:sldId id="268" r:id="rId19"/>
    <p:sldId id="271" r:id="rId20"/>
    <p:sldId id="267" r:id="rId21"/>
    <p:sldId id="283" r:id="rId22"/>
    <p:sldId id="284" r:id="rId23"/>
    <p:sldId id="274" r:id="rId24"/>
    <p:sldId id="275" r:id="rId25"/>
    <p:sldId id="277" r:id="rId26"/>
    <p:sldId id="273" r:id="rId27"/>
    <p:sldId id="281" r:id="rId28"/>
    <p:sldId id="278" r:id="rId29"/>
    <p:sldId id="279" r:id="rId30"/>
    <p:sldId id="282" r:id="rId31"/>
    <p:sldId id="286" r:id="rId32"/>
    <p:sldId id="287" r:id="rId33"/>
    <p:sldId id="280" r:id="rId34"/>
    <p:sldId id="297" r:id="rId35"/>
    <p:sldId id="272" r:id="rId36"/>
    <p:sldId id="29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58"/>
  </p:normalViewPr>
  <p:slideViewPr>
    <p:cSldViewPr snapToGrid="0">
      <p:cViewPr>
        <p:scale>
          <a:sx n="100" d="100"/>
          <a:sy n="100" d="100"/>
        </p:scale>
        <p:origin x="1192" y="6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D08D6-176E-FCF1-6C43-A7B15D00B4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C1FC60-0583-CCE7-64E8-4A395745DA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AFF216-26EC-6F63-A05D-DBB1ED5B9EAD}"/>
              </a:ext>
            </a:extLst>
          </p:cNvPr>
          <p:cNvSpPr>
            <a:spLocks noGrp="1"/>
          </p:cNvSpPr>
          <p:nvPr>
            <p:ph type="dt" sz="half" idx="10"/>
          </p:nvPr>
        </p:nvSpPr>
        <p:spPr/>
        <p:txBody>
          <a:bodyPr/>
          <a:lstStyle/>
          <a:p>
            <a:fld id="{9993D108-7E8C-8F4D-A07F-177F5DB44637}" type="datetimeFigureOut">
              <a:rPr lang="en-US" smtClean="0"/>
              <a:t>5/22/25</a:t>
            </a:fld>
            <a:endParaRPr lang="en-US"/>
          </a:p>
        </p:txBody>
      </p:sp>
      <p:sp>
        <p:nvSpPr>
          <p:cNvPr id="5" name="Footer Placeholder 4">
            <a:extLst>
              <a:ext uri="{FF2B5EF4-FFF2-40B4-BE49-F238E27FC236}">
                <a16:creationId xmlns:a16="http://schemas.microsoft.com/office/drawing/2014/main" id="{D97EA82E-E04D-19E6-0C01-02FEFF3E0A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521B25-8A37-C0E8-AE31-639780850DE4}"/>
              </a:ext>
            </a:extLst>
          </p:cNvPr>
          <p:cNvSpPr>
            <a:spLocks noGrp="1"/>
          </p:cNvSpPr>
          <p:nvPr>
            <p:ph type="sldNum" sz="quarter" idx="12"/>
          </p:nvPr>
        </p:nvSpPr>
        <p:spPr/>
        <p:txBody>
          <a:bodyPr/>
          <a:lstStyle/>
          <a:p>
            <a:fld id="{B7504400-CBEF-3B4B-BC6E-1F740E54C2FA}" type="slidenum">
              <a:rPr lang="en-US" smtClean="0"/>
              <a:t>‹#›</a:t>
            </a:fld>
            <a:endParaRPr lang="en-US"/>
          </a:p>
        </p:txBody>
      </p:sp>
    </p:spTree>
    <p:extLst>
      <p:ext uri="{BB962C8B-B14F-4D97-AF65-F5344CB8AC3E}">
        <p14:creationId xmlns:p14="http://schemas.microsoft.com/office/powerpoint/2010/main" val="3791649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9D519-B16E-1B89-45CF-E22262C995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1CF3FB-DA26-DEB5-2B4D-85C967C27D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BFAA5-DB54-0040-82BB-7E1680B55142}"/>
              </a:ext>
            </a:extLst>
          </p:cNvPr>
          <p:cNvSpPr>
            <a:spLocks noGrp="1"/>
          </p:cNvSpPr>
          <p:nvPr>
            <p:ph type="dt" sz="half" idx="10"/>
          </p:nvPr>
        </p:nvSpPr>
        <p:spPr/>
        <p:txBody>
          <a:bodyPr/>
          <a:lstStyle/>
          <a:p>
            <a:fld id="{9993D108-7E8C-8F4D-A07F-177F5DB44637}" type="datetimeFigureOut">
              <a:rPr lang="en-US" smtClean="0"/>
              <a:t>5/22/25</a:t>
            </a:fld>
            <a:endParaRPr lang="en-US"/>
          </a:p>
        </p:txBody>
      </p:sp>
      <p:sp>
        <p:nvSpPr>
          <p:cNvPr id="5" name="Footer Placeholder 4">
            <a:extLst>
              <a:ext uri="{FF2B5EF4-FFF2-40B4-BE49-F238E27FC236}">
                <a16:creationId xmlns:a16="http://schemas.microsoft.com/office/drawing/2014/main" id="{BCF966B5-DE0C-E45C-4821-F298D5DC5D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311B00-9867-3837-05E3-8EF509C689AB}"/>
              </a:ext>
            </a:extLst>
          </p:cNvPr>
          <p:cNvSpPr>
            <a:spLocks noGrp="1"/>
          </p:cNvSpPr>
          <p:nvPr>
            <p:ph type="sldNum" sz="quarter" idx="12"/>
          </p:nvPr>
        </p:nvSpPr>
        <p:spPr/>
        <p:txBody>
          <a:bodyPr/>
          <a:lstStyle/>
          <a:p>
            <a:fld id="{B7504400-CBEF-3B4B-BC6E-1F740E54C2FA}" type="slidenum">
              <a:rPr lang="en-US" smtClean="0"/>
              <a:t>‹#›</a:t>
            </a:fld>
            <a:endParaRPr lang="en-US"/>
          </a:p>
        </p:txBody>
      </p:sp>
    </p:spTree>
    <p:extLst>
      <p:ext uri="{BB962C8B-B14F-4D97-AF65-F5344CB8AC3E}">
        <p14:creationId xmlns:p14="http://schemas.microsoft.com/office/powerpoint/2010/main" val="4237629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AD58B-77E8-D095-24CD-14C56047D5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0DA333-9751-6E63-EFD5-8A7CF97F8B1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66B685-451D-59BC-A26E-CAA6C0A3FE6E}"/>
              </a:ext>
            </a:extLst>
          </p:cNvPr>
          <p:cNvSpPr>
            <a:spLocks noGrp="1"/>
          </p:cNvSpPr>
          <p:nvPr>
            <p:ph type="dt" sz="half" idx="10"/>
          </p:nvPr>
        </p:nvSpPr>
        <p:spPr/>
        <p:txBody>
          <a:bodyPr/>
          <a:lstStyle/>
          <a:p>
            <a:fld id="{9993D108-7E8C-8F4D-A07F-177F5DB44637}" type="datetimeFigureOut">
              <a:rPr lang="en-US" smtClean="0"/>
              <a:t>5/22/25</a:t>
            </a:fld>
            <a:endParaRPr lang="en-US"/>
          </a:p>
        </p:txBody>
      </p:sp>
      <p:sp>
        <p:nvSpPr>
          <p:cNvPr id="5" name="Footer Placeholder 4">
            <a:extLst>
              <a:ext uri="{FF2B5EF4-FFF2-40B4-BE49-F238E27FC236}">
                <a16:creationId xmlns:a16="http://schemas.microsoft.com/office/drawing/2014/main" id="{4D3AFE9D-4245-93F1-2849-C1EC924BE4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735B63-6BF9-B3DE-F45E-7AC20C2DF57F}"/>
              </a:ext>
            </a:extLst>
          </p:cNvPr>
          <p:cNvSpPr>
            <a:spLocks noGrp="1"/>
          </p:cNvSpPr>
          <p:nvPr>
            <p:ph type="sldNum" sz="quarter" idx="12"/>
          </p:nvPr>
        </p:nvSpPr>
        <p:spPr/>
        <p:txBody>
          <a:bodyPr/>
          <a:lstStyle/>
          <a:p>
            <a:fld id="{B7504400-CBEF-3B4B-BC6E-1F740E54C2FA}" type="slidenum">
              <a:rPr lang="en-US" smtClean="0"/>
              <a:t>‹#›</a:t>
            </a:fld>
            <a:endParaRPr lang="en-US"/>
          </a:p>
        </p:txBody>
      </p:sp>
    </p:spTree>
    <p:extLst>
      <p:ext uri="{BB962C8B-B14F-4D97-AF65-F5344CB8AC3E}">
        <p14:creationId xmlns:p14="http://schemas.microsoft.com/office/powerpoint/2010/main" val="232047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8EF90-3988-BDED-85C0-5E7CF0C28F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886EFD-0CB0-ED7E-1904-1A353CEBBD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19BD02-1926-DA6D-2832-8E890B6F87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212CF93-124C-3820-DB43-807D8DB3E465}"/>
              </a:ext>
            </a:extLst>
          </p:cNvPr>
          <p:cNvSpPr>
            <a:spLocks noGrp="1"/>
          </p:cNvSpPr>
          <p:nvPr>
            <p:ph type="dt" sz="half" idx="10"/>
          </p:nvPr>
        </p:nvSpPr>
        <p:spPr/>
        <p:txBody>
          <a:bodyPr/>
          <a:lstStyle/>
          <a:p>
            <a:fld id="{9993D108-7E8C-8F4D-A07F-177F5DB44637}" type="datetimeFigureOut">
              <a:rPr lang="en-US" smtClean="0"/>
              <a:t>5/22/25</a:t>
            </a:fld>
            <a:endParaRPr lang="en-US"/>
          </a:p>
        </p:txBody>
      </p:sp>
      <p:sp>
        <p:nvSpPr>
          <p:cNvPr id="6" name="Footer Placeholder 5">
            <a:extLst>
              <a:ext uri="{FF2B5EF4-FFF2-40B4-BE49-F238E27FC236}">
                <a16:creationId xmlns:a16="http://schemas.microsoft.com/office/drawing/2014/main" id="{A0547D28-B911-0ECB-7B2C-8229C61EFF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B89BF0-2157-C263-0BDF-5C57DE7D2845}"/>
              </a:ext>
            </a:extLst>
          </p:cNvPr>
          <p:cNvSpPr>
            <a:spLocks noGrp="1"/>
          </p:cNvSpPr>
          <p:nvPr>
            <p:ph type="sldNum" sz="quarter" idx="12"/>
          </p:nvPr>
        </p:nvSpPr>
        <p:spPr/>
        <p:txBody>
          <a:bodyPr/>
          <a:lstStyle/>
          <a:p>
            <a:fld id="{B7504400-CBEF-3B4B-BC6E-1F740E54C2FA}" type="slidenum">
              <a:rPr lang="en-US" smtClean="0"/>
              <a:t>‹#›</a:t>
            </a:fld>
            <a:endParaRPr lang="en-US"/>
          </a:p>
        </p:txBody>
      </p:sp>
    </p:spTree>
    <p:extLst>
      <p:ext uri="{BB962C8B-B14F-4D97-AF65-F5344CB8AC3E}">
        <p14:creationId xmlns:p14="http://schemas.microsoft.com/office/powerpoint/2010/main" val="4079128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C3961-C11B-5380-F3F2-43BFB88F56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9D41A3-09E6-548C-8262-8FC3AC0FFA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0EFBB4-9B04-4BBF-1CD3-F22CC996A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EB817D-04CF-833C-6B83-E224CD2966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A60A00-FA73-10A5-F069-07D545C7FF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D696FB9-B4C0-130C-5F5B-83E1ACCA7CF8}"/>
              </a:ext>
            </a:extLst>
          </p:cNvPr>
          <p:cNvSpPr>
            <a:spLocks noGrp="1"/>
          </p:cNvSpPr>
          <p:nvPr>
            <p:ph type="dt" sz="half" idx="10"/>
          </p:nvPr>
        </p:nvSpPr>
        <p:spPr/>
        <p:txBody>
          <a:bodyPr/>
          <a:lstStyle/>
          <a:p>
            <a:fld id="{9993D108-7E8C-8F4D-A07F-177F5DB44637}" type="datetimeFigureOut">
              <a:rPr lang="en-US" smtClean="0"/>
              <a:t>5/22/25</a:t>
            </a:fld>
            <a:endParaRPr lang="en-US"/>
          </a:p>
        </p:txBody>
      </p:sp>
      <p:sp>
        <p:nvSpPr>
          <p:cNvPr id="8" name="Footer Placeholder 7">
            <a:extLst>
              <a:ext uri="{FF2B5EF4-FFF2-40B4-BE49-F238E27FC236}">
                <a16:creationId xmlns:a16="http://schemas.microsoft.com/office/drawing/2014/main" id="{F880E3FE-50E6-0A9F-843D-1AEA9B3C13D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2EC602-4901-2B86-44DC-BD5F5EC3AEF8}"/>
              </a:ext>
            </a:extLst>
          </p:cNvPr>
          <p:cNvSpPr>
            <a:spLocks noGrp="1"/>
          </p:cNvSpPr>
          <p:nvPr>
            <p:ph type="sldNum" sz="quarter" idx="12"/>
          </p:nvPr>
        </p:nvSpPr>
        <p:spPr/>
        <p:txBody>
          <a:bodyPr/>
          <a:lstStyle/>
          <a:p>
            <a:fld id="{B7504400-CBEF-3B4B-BC6E-1F740E54C2FA}" type="slidenum">
              <a:rPr lang="en-US" smtClean="0"/>
              <a:t>‹#›</a:t>
            </a:fld>
            <a:endParaRPr lang="en-US"/>
          </a:p>
        </p:txBody>
      </p:sp>
    </p:spTree>
    <p:extLst>
      <p:ext uri="{BB962C8B-B14F-4D97-AF65-F5344CB8AC3E}">
        <p14:creationId xmlns:p14="http://schemas.microsoft.com/office/powerpoint/2010/main" val="3232874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2083D-7814-9633-37CB-FE7EA9B541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534B69-A784-709D-FBF2-1C5CBB17A381}"/>
              </a:ext>
            </a:extLst>
          </p:cNvPr>
          <p:cNvSpPr>
            <a:spLocks noGrp="1"/>
          </p:cNvSpPr>
          <p:nvPr>
            <p:ph type="dt" sz="half" idx="10"/>
          </p:nvPr>
        </p:nvSpPr>
        <p:spPr/>
        <p:txBody>
          <a:bodyPr/>
          <a:lstStyle/>
          <a:p>
            <a:fld id="{9993D108-7E8C-8F4D-A07F-177F5DB44637}" type="datetimeFigureOut">
              <a:rPr lang="en-US" smtClean="0"/>
              <a:t>5/22/25</a:t>
            </a:fld>
            <a:endParaRPr lang="en-US"/>
          </a:p>
        </p:txBody>
      </p:sp>
      <p:sp>
        <p:nvSpPr>
          <p:cNvPr id="4" name="Footer Placeholder 3">
            <a:extLst>
              <a:ext uri="{FF2B5EF4-FFF2-40B4-BE49-F238E27FC236}">
                <a16:creationId xmlns:a16="http://schemas.microsoft.com/office/drawing/2014/main" id="{CD01800D-9E58-5E35-CA2B-63A06EDBFE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BB9B91-0291-E898-0B2D-343D33C96218}"/>
              </a:ext>
            </a:extLst>
          </p:cNvPr>
          <p:cNvSpPr>
            <a:spLocks noGrp="1"/>
          </p:cNvSpPr>
          <p:nvPr>
            <p:ph type="sldNum" sz="quarter" idx="12"/>
          </p:nvPr>
        </p:nvSpPr>
        <p:spPr/>
        <p:txBody>
          <a:bodyPr/>
          <a:lstStyle/>
          <a:p>
            <a:fld id="{B7504400-CBEF-3B4B-BC6E-1F740E54C2FA}" type="slidenum">
              <a:rPr lang="en-US" smtClean="0"/>
              <a:t>‹#›</a:t>
            </a:fld>
            <a:endParaRPr lang="en-US"/>
          </a:p>
        </p:txBody>
      </p:sp>
    </p:spTree>
    <p:extLst>
      <p:ext uri="{BB962C8B-B14F-4D97-AF65-F5344CB8AC3E}">
        <p14:creationId xmlns:p14="http://schemas.microsoft.com/office/powerpoint/2010/main" val="2474649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C097B4-3ED7-66C1-FD20-9EE95C88BBE4}"/>
              </a:ext>
            </a:extLst>
          </p:cNvPr>
          <p:cNvSpPr>
            <a:spLocks noGrp="1"/>
          </p:cNvSpPr>
          <p:nvPr>
            <p:ph type="dt" sz="half" idx="10"/>
          </p:nvPr>
        </p:nvSpPr>
        <p:spPr/>
        <p:txBody>
          <a:bodyPr/>
          <a:lstStyle/>
          <a:p>
            <a:fld id="{9993D108-7E8C-8F4D-A07F-177F5DB44637}" type="datetimeFigureOut">
              <a:rPr lang="en-US" smtClean="0"/>
              <a:t>5/22/25</a:t>
            </a:fld>
            <a:endParaRPr lang="en-US"/>
          </a:p>
        </p:txBody>
      </p:sp>
      <p:sp>
        <p:nvSpPr>
          <p:cNvPr id="3" name="Footer Placeholder 2">
            <a:extLst>
              <a:ext uri="{FF2B5EF4-FFF2-40B4-BE49-F238E27FC236}">
                <a16:creationId xmlns:a16="http://schemas.microsoft.com/office/drawing/2014/main" id="{3378D5CC-DA45-6E80-506E-89702B948F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5796B7-03FF-150E-8790-151C02BE3A9F}"/>
              </a:ext>
            </a:extLst>
          </p:cNvPr>
          <p:cNvSpPr>
            <a:spLocks noGrp="1"/>
          </p:cNvSpPr>
          <p:nvPr>
            <p:ph type="sldNum" sz="quarter" idx="12"/>
          </p:nvPr>
        </p:nvSpPr>
        <p:spPr/>
        <p:txBody>
          <a:bodyPr/>
          <a:lstStyle/>
          <a:p>
            <a:fld id="{B7504400-CBEF-3B4B-BC6E-1F740E54C2FA}" type="slidenum">
              <a:rPr lang="en-US" smtClean="0"/>
              <a:t>‹#›</a:t>
            </a:fld>
            <a:endParaRPr lang="en-US"/>
          </a:p>
        </p:txBody>
      </p:sp>
    </p:spTree>
    <p:extLst>
      <p:ext uri="{BB962C8B-B14F-4D97-AF65-F5344CB8AC3E}">
        <p14:creationId xmlns:p14="http://schemas.microsoft.com/office/powerpoint/2010/main" val="3142389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86781-E2F9-6E3C-6BB1-5A68D7726D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661712-F947-CCFE-D146-3E686ACA38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344BF2-AC99-1A54-E425-1E6FA8427F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80F952-7F57-0CC9-1592-153FAFA94A9C}"/>
              </a:ext>
            </a:extLst>
          </p:cNvPr>
          <p:cNvSpPr>
            <a:spLocks noGrp="1"/>
          </p:cNvSpPr>
          <p:nvPr>
            <p:ph type="dt" sz="half" idx="10"/>
          </p:nvPr>
        </p:nvSpPr>
        <p:spPr/>
        <p:txBody>
          <a:bodyPr/>
          <a:lstStyle/>
          <a:p>
            <a:fld id="{9993D108-7E8C-8F4D-A07F-177F5DB44637}" type="datetimeFigureOut">
              <a:rPr lang="en-US" smtClean="0"/>
              <a:t>5/22/25</a:t>
            </a:fld>
            <a:endParaRPr lang="en-US"/>
          </a:p>
        </p:txBody>
      </p:sp>
      <p:sp>
        <p:nvSpPr>
          <p:cNvPr id="6" name="Footer Placeholder 5">
            <a:extLst>
              <a:ext uri="{FF2B5EF4-FFF2-40B4-BE49-F238E27FC236}">
                <a16:creationId xmlns:a16="http://schemas.microsoft.com/office/drawing/2014/main" id="{E702A5D9-6297-E08F-F1B3-CB6BCF8146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8238B0-80E3-9B74-F7A6-8D3D83C10BB4}"/>
              </a:ext>
            </a:extLst>
          </p:cNvPr>
          <p:cNvSpPr>
            <a:spLocks noGrp="1"/>
          </p:cNvSpPr>
          <p:nvPr>
            <p:ph type="sldNum" sz="quarter" idx="12"/>
          </p:nvPr>
        </p:nvSpPr>
        <p:spPr/>
        <p:txBody>
          <a:bodyPr/>
          <a:lstStyle/>
          <a:p>
            <a:fld id="{B7504400-CBEF-3B4B-BC6E-1F740E54C2FA}" type="slidenum">
              <a:rPr lang="en-US" smtClean="0"/>
              <a:t>‹#›</a:t>
            </a:fld>
            <a:endParaRPr lang="en-US"/>
          </a:p>
        </p:txBody>
      </p:sp>
    </p:spTree>
    <p:extLst>
      <p:ext uri="{BB962C8B-B14F-4D97-AF65-F5344CB8AC3E}">
        <p14:creationId xmlns:p14="http://schemas.microsoft.com/office/powerpoint/2010/main" val="1356812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C130B-F0F0-768F-3EE3-C8AB6B21B2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A89B7A-D1BC-5CDB-7698-CDA3E044FC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11B442-2E77-DFE5-AB46-ED12A558E7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E00C94-09B7-8570-7B0C-7F8339012C15}"/>
              </a:ext>
            </a:extLst>
          </p:cNvPr>
          <p:cNvSpPr>
            <a:spLocks noGrp="1"/>
          </p:cNvSpPr>
          <p:nvPr>
            <p:ph type="dt" sz="half" idx="10"/>
          </p:nvPr>
        </p:nvSpPr>
        <p:spPr/>
        <p:txBody>
          <a:bodyPr/>
          <a:lstStyle/>
          <a:p>
            <a:fld id="{9993D108-7E8C-8F4D-A07F-177F5DB44637}" type="datetimeFigureOut">
              <a:rPr lang="en-US" smtClean="0"/>
              <a:t>5/22/25</a:t>
            </a:fld>
            <a:endParaRPr lang="en-US"/>
          </a:p>
        </p:txBody>
      </p:sp>
      <p:sp>
        <p:nvSpPr>
          <p:cNvPr id="6" name="Footer Placeholder 5">
            <a:extLst>
              <a:ext uri="{FF2B5EF4-FFF2-40B4-BE49-F238E27FC236}">
                <a16:creationId xmlns:a16="http://schemas.microsoft.com/office/drawing/2014/main" id="{4A5F014C-98CE-92F0-54E0-1440FF4DEA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014390-DE77-B90D-5634-56B1188EA4F0}"/>
              </a:ext>
            </a:extLst>
          </p:cNvPr>
          <p:cNvSpPr>
            <a:spLocks noGrp="1"/>
          </p:cNvSpPr>
          <p:nvPr>
            <p:ph type="sldNum" sz="quarter" idx="12"/>
          </p:nvPr>
        </p:nvSpPr>
        <p:spPr/>
        <p:txBody>
          <a:bodyPr/>
          <a:lstStyle/>
          <a:p>
            <a:fld id="{B7504400-CBEF-3B4B-BC6E-1F740E54C2FA}" type="slidenum">
              <a:rPr lang="en-US" smtClean="0"/>
              <a:t>‹#›</a:t>
            </a:fld>
            <a:endParaRPr lang="en-US"/>
          </a:p>
        </p:txBody>
      </p:sp>
    </p:spTree>
    <p:extLst>
      <p:ext uri="{BB962C8B-B14F-4D97-AF65-F5344CB8AC3E}">
        <p14:creationId xmlns:p14="http://schemas.microsoft.com/office/powerpoint/2010/main" val="1624068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A198F-7915-2B40-DC7E-70AF5477487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903BC29-687E-00D4-934F-D446EC694D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EBF894-AFEC-7543-497F-54D251469D90}"/>
              </a:ext>
            </a:extLst>
          </p:cNvPr>
          <p:cNvSpPr>
            <a:spLocks noGrp="1"/>
          </p:cNvSpPr>
          <p:nvPr>
            <p:ph type="dt" sz="half" idx="10"/>
          </p:nvPr>
        </p:nvSpPr>
        <p:spPr/>
        <p:txBody>
          <a:bodyPr/>
          <a:lstStyle/>
          <a:p>
            <a:fld id="{9993D108-7E8C-8F4D-A07F-177F5DB44637}" type="datetimeFigureOut">
              <a:rPr lang="en-US" smtClean="0"/>
              <a:t>5/22/25</a:t>
            </a:fld>
            <a:endParaRPr lang="en-US"/>
          </a:p>
        </p:txBody>
      </p:sp>
      <p:sp>
        <p:nvSpPr>
          <p:cNvPr id="5" name="Footer Placeholder 4">
            <a:extLst>
              <a:ext uri="{FF2B5EF4-FFF2-40B4-BE49-F238E27FC236}">
                <a16:creationId xmlns:a16="http://schemas.microsoft.com/office/drawing/2014/main" id="{F3B41BB9-7B16-F948-AB95-E45BACC56E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470246-FE17-912D-5DC9-041DF0DEBBA4}"/>
              </a:ext>
            </a:extLst>
          </p:cNvPr>
          <p:cNvSpPr>
            <a:spLocks noGrp="1"/>
          </p:cNvSpPr>
          <p:nvPr>
            <p:ph type="sldNum" sz="quarter" idx="12"/>
          </p:nvPr>
        </p:nvSpPr>
        <p:spPr/>
        <p:txBody>
          <a:bodyPr/>
          <a:lstStyle/>
          <a:p>
            <a:fld id="{B7504400-CBEF-3B4B-BC6E-1F740E54C2FA}" type="slidenum">
              <a:rPr lang="en-US" smtClean="0"/>
              <a:t>‹#›</a:t>
            </a:fld>
            <a:endParaRPr lang="en-US"/>
          </a:p>
        </p:txBody>
      </p:sp>
    </p:spTree>
    <p:extLst>
      <p:ext uri="{BB962C8B-B14F-4D97-AF65-F5344CB8AC3E}">
        <p14:creationId xmlns:p14="http://schemas.microsoft.com/office/powerpoint/2010/main" val="2471489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17F790-1CCD-5FF1-F4C3-C87ABAFB79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6D0381-43A4-DD2C-296F-B09EAC072A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42311D-9D21-F7B8-7711-5116486BA2C9}"/>
              </a:ext>
            </a:extLst>
          </p:cNvPr>
          <p:cNvSpPr>
            <a:spLocks noGrp="1"/>
          </p:cNvSpPr>
          <p:nvPr>
            <p:ph type="dt" sz="half" idx="10"/>
          </p:nvPr>
        </p:nvSpPr>
        <p:spPr/>
        <p:txBody>
          <a:bodyPr/>
          <a:lstStyle/>
          <a:p>
            <a:fld id="{9993D108-7E8C-8F4D-A07F-177F5DB44637}" type="datetimeFigureOut">
              <a:rPr lang="en-US" smtClean="0"/>
              <a:t>5/22/25</a:t>
            </a:fld>
            <a:endParaRPr lang="en-US"/>
          </a:p>
        </p:txBody>
      </p:sp>
      <p:sp>
        <p:nvSpPr>
          <p:cNvPr id="5" name="Footer Placeholder 4">
            <a:extLst>
              <a:ext uri="{FF2B5EF4-FFF2-40B4-BE49-F238E27FC236}">
                <a16:creationId xmlns:a16="http://schemas.microsoft.com/office/drawing/2014/main" id="{3636E7B5-BF2A-F148-DA61-CFA5B41712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CDC257-4465-C73A-7BC2-D9A7F00048EC}"/>
              </a:ext>
            </a:extLst>
          </p:cNvPr>
          <p:cNvSpPr>
            <a:spLocks noGrp="1"/>
          </p:cNvSpPr>
          <p:nvPr>
            <p:ph type="sldNum" sz="quarter" idx="12"/>
          </p:nvPr>
        </p:nvSpPr>
        <p:spPr/>
        <p:txBody>
          <a:bodyPr/>
          <a:lstStyle/>
          <a:p>
            <a:fld id="{B7504400-CBEF-3B4B-BC6E-1F740E54C2FA}" type="slidenum">
              <a:rPr lang="en-US" smtClean="0"/>
              <a:t>‹#›</a:t>
            </a:fld>
            <a:endParaRPr lang="en-US"/>
          </a:p>
        </p:txBody>
      </p:sp>
    </p:spTree>
    <p:extLst>
      <p:ext uri="{BB962C8B-B14F-4D97-AF65-F5344CB8AC3E}">
        <p14:creationId xmlns:p14="http://schemas.microsoft.com/office/powerpoint/2010/main" val="393413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CA4D92-379D-3361-46AE-F920B7BEF4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37F90D-B2D1-F509-0452-9C3CA23180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144129-BCD1-F9FF-BF70-9F4FD8B362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93D108-7E8C-8F4D-A07F-177F5DB44637}" type="datetimeFigureOut">
              <a:rPr lang="en-US" smtClean="0"/>
              <a:t>5/22/25</a:t>
            </a:fld>
            <a:endParaRPr lang="en-US"/>
          </a:p>
        </p:txBody>
      </p:sp>
      <p:sp>
        <p:nvSpPr>
          <p:cNvPr id="5" name="Footer Placeholder 4">
            <a:extLst>
              <a:ext uri="{FF2B5EF4-FFF2-40B4-BE49-F238E27FC236}">
                <a16:creationId xmlns:a16="http://schemas.microsoft.com/office/drawing/2014/main" id="{C54FBAB2-3C4B-CEBD-D606-58EABA637F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DE3876-227E-01C4-438D-E70BAF31D2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504400-CBEF-3B4B-BC6E-1F740E54C2FA}" type="slidenum">
              <a:rPr lang="en-US" smtClean="0"/>
              <a:t>‹#›</a:t>
            </a:fld>
            <a:endParaRPr lang="en-US"/>
          </a:p>
        </p:txBody>
      </p:sp>
    </p:spTree>
    <p:extLst>
      <p:ext uri="{BB962C8B-B14F-4D97-AF65-F5344CB8AC3E}">
        <p14:creationId xmlns:p14="http://schemas.microsoft.com/office/powerpoint/2010/main" val="28599871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95C5E-7778-4E57-713B-9E044835D14B}"/>
              </a:ext>
            </a:extLst>
          </p:cNvPr>
          <p:cNvSpPr>
            <a:spLocks noGrp="1"/>
          </p:cNvSpPr>
          <p:nvPr>
            <p:ph type="ctrTitle"/>
          </p:nvPr>
        </p:nvSpPr>
        <p:spPr/>
        <p:txBody>
          <a:bodyPr/>
          <a:lstStyle/>
          <a:p>
            <a:r>
              <a:rPr lang="en-US" dirty="0"/>
              <a:t>Agentic AI</a:t>
            </a:r>
          </a:p>
        </p:txBody>
      </p:sp>
    </p:spTree>
    <p:extLst>
      <p:ext uri="{BB962C8B-B14F-4D97-AF65-F5344CB8AC3E}">
        <p14:creationId xmlns:p14="http://schemas.microsoft.com/office/powerpoint/2010/main" val="943215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009D4F-4AFA-ACB2-B0DF-D71795650A3F}"/>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78582609-0444-29B1-54A2-C0BCEB229AC7}"/>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lang="en-IN" sz="2800" dirty="0">
                <a:solidFill>
                  <a:schemeClr val="bg1"/>
                </a:solidFill>
              </a:rPr>
              <a:t>🌐 What is Agentic AI?</a:t>
            </a:r>
            <a:endParaRPr kumimoji="0" lang="en-US" altLang="en-US" sz="2800" b="0" i="0" u="none" strike="noStrike" kern="1200" cap="none" normalizeH="0" baseline="0" dirty="0">
              <a:ln>
                <a:noFill/>
              </a:ln>
              <a:solidFill>
                <a:schemeClr val="bg1"/>
              </a:solidFill>
              <a:effectLst/>
              <a:latin typeface="+mj-lt"/>
              <a:ea typeface="+mj-ea"/>
              <a:cs typeface="+mj-cs"/>
            </a:endParaRPr>
          </a:p>
        </p:txBody>
      </p:sp>
      <p:sp>
        <p:nvSpPr>
          <p:cNvPr id="3" name="TextBox 2">
            <a:extLst>
              <a:ext uri="{FF2B5EF4-FFF2-40B4-BE49-F238E27FC236}">
                <a16:creationId xmlns:a16="http://schemas.microsoft.com/office/drawing/2014/main" id="{D01309D9-69CA-995F-3DAC-8E2A058A10DF}"/>
              </a:ext>
            </a:extLst>
          </p:cNvPr>
          <p:cNvSpPr txBox="1"/>
          <p:nvPr/>
        </p:nvSpPr>
        <p:spPr>
          <a:xfrm>
            <a:off x="784058" y="1627401"/>
            <a:ext cx="10623884" cy="4653518"/>
          </a:xfrm>
          <a:prstGeom prst="rect">
            <a:avLst/>
          </a:prstGeom>
          <a:noFill/>
        </p:spPr>
        <p:txBody>
          <a:bodyPr wrap="square">
            <a:spAutoFit/>
          </a:bodyPr>
          <a:lstStyle/>
          <a:p>
            <a:pPr>
              <a:lnSpc>
                <a:spcPct val="150000"/>
              </a:lnSpc>
              <a:buNone/>
            </a:pPr>
            <a:r>
              <a:rPr lang="en-IN" sz="2500" b="1" dirty="0"/>
              <a:t>Agentic AI</a:t>
            </a:r>
            <a:r>
              <a:rPr lang="en-IN" sz="2500" dirty="0"/>
              <a:t> refers to AI systems that behave as </a:t>
            </a:r>
            <a:r>
              <a:rPr lang="en-IN" sz="2500" b="1" dirty="0"/>
              <a:t>autonomous agents</a:t>
            </a:r>
            <a:r>
              <a:rPr lang="en-IN" sz="2500" dirty="0"/>
              <a:t> — systems that can:</a:t>
            </a:r>
          </a:p>
          <a:p>
            <a:pPr marL="645750" indent="-285750">
              <a:lnSpc>
                <a:spcPct val="150000"/>
              </a:lnSpc>
              <a:buFont typeface="Arial" panose="020B0604020202020204" pitchFamily="34" charset="0"/>
              <a:buChar char="•"/>
            </a:pPr>
            <a:r>
              <a:rPr lang="en-IN" sz="2500" b="1" dirty="0"/>
              <a:t>Perceive</a:t>
            </a:r>
            <a:r>
              <a:rPr lang="en-IN" sz="2500" dirty="0"/>
              <a:t> (observe inputs),</a:t>
            </a:r>
          </a:p>
          <a:p>
            <a:pPr marL="645750" indent="-285750">
              <a:lnSpc>
                <a:spcPct val="150000"/>
              </a:lnSpc>
              <a:buFont typeface="Arial" panose="020B0604020202020204" pitchFamily="34" charset="0"/>
              <a:buChar char="•"/>
            </a:pPr>
            <a:r>
              <a:rPr lang="en-IN" sz="2500" b="1" dirty="0"/>
              <a:t>Reason</a:t>
            </a:r>
            <a:r>
              <a:rPr lang="en-IN" sz="2500" dirty="0"/>
              <a:t> (make decisions),</a:t>
            </a:r>
          </a:p>
          <a:p>
            <a:pPr marL="645750" indent="-285750">
              <a:lnSpc>
                <a:spcPct val="150000"/>
              </a:lnSpc>
              <a:buFont typeface="Arial" panose="020B0604020202020204" pitchFamily="34" charset="0"/>
              <a:buChar char="•"/>
            </a:pPr>
            <a:r>
              <a:rPr lang="en-IN" sz="2500" b="1" dirty="0"/>
              <a:t>Plan</a:t>
            </a:r>
            <a:r>
              <a:rPr lang="en-IN" sz="2500" dirty="0"/>
              <a:t> (sequence actions),</a:t>
            </a:r>
          </a:p>
          <a:p>
            <a:pPr marL="645750" indent="-285750">
              <a:lnSpc>
                <a:spcPct val="150000"/>
              </a:lnSpc>
              <a:buFont typeface="Arial" panose="020B0604020202020204" pitchFamily="34" charset="0"/>
              <a:buChar char="•"/>
            </a:pPr>
            <a:r>
              <a:rPr lang="en-IN" sz="2500" b="1" dirty="0"/>
              <a:t>Act</a:t>
            </a:r>
            <a:r>
              <a:rPr lang="en-IN" sz="2500" dirty="0"/>
              <a:t> (interact with tools/APIs/external systems),</a:t>
            </a:r>
          </a:p>
          <a:p>
            <a:pPr marL="645750" indent="-285750">
              <a:lnSpc>
                <a:spcPct val="150000"/>
              </a:lnSpc>
              <a:buFont typeface="Arial" panose="020B0604020202020204" pitchFamily="34" charset="0"/>
              <a:buChar char="•"/>
            </a:pPr>
            <a:r>
              <a:rPr lang="en-IN" sz="2500" b="1" dirty="0"/>
              <a:t>Adapt</a:t>
            </a:r>
            <a:r>
              <a:rPr lang="en-IN" sz="2500" dirty="0"/>
              <a:t> (react to new information dynamically).</a:t>
            </a:r>
          </a:p>
          <a:p>
            <a:pPr>
              <a:lnSpc>
                <a:spcPct val="150000"/>
              </a:lnSpc>
            </a:pPr>
            <a:r>
              <a:rPr lang="en-IN" sz="2500" dirty="0"/>
              <a:t>Think of it as upgrading from </a:t>
            </a:r>
            <a:r>
              <a:rPr lang="en-IN" sz="2500" i="1" dirty="0"/>
              <a:t>LLM-as-a-function</a:t>
            </a:r>
            <a:r>
              <a:rPr lang="en-IN" sz="2500" dirty="0"/>
              <a:t> to </a:t>
            </a:r>
            <a:r>
              <a:rPr lang="en-IN" sz="2500" i="1" dirty="0"/>
              <a:t>LLM-as-an-agent</a:t>
            </a:r>
            <a:r>
              <a:rPr lang="en-IN" sz="2500" dirty="0"/>
              <a:t>.</a:t>
            </a:r>
          </a:p>
        </p:txBody>
      </p:sp>
    </p:spTree>
    <p:extLst>
      <p:ext uri="{BB962C8B-B14F-4D97-AF65-F5344CB8AC3E}">
        <p14:creationId xmlns:p14="http://schemas.microsoft.com/office/powerpoint/2010/main" val="2454936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E214F688-96DA-AE4E-BB04-B32A790D1D9C}"/>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marL="0" marR="0" lvl="0" indent="0" algn="ctr" fontAlgn="base">
              <a:lnSpc>
                <a:spcPct val="90000"/>
              </a:lnSpc>
              <a:spcBef>
                <a:spcPct val="0"/>
              </a:spcBef>
              <a:spcAft>
                <a:spcPts val="600"/>
              </a:spcAft>
              <a:buClrTx/>
              <a:buSzTx/>
              <a:tabLst/>
            </a:pPr>
            <a:endParaRPr kumimoji="0" lang="en-US" altLang="en-US" sz="2800" b="1" i="0" u="none" strike="noStrike" kern="1200" cap="none" normalizeH="0" baseline="0" dirty="0">
              <a:ln>
                <a:noFill/>
              </a:ln>
              <a:solidFill>
                <a:schemeClr val="bg1"/>
              </a:solidFill>
              <a:effectLst/>
              <a:latin typeface="+mj-lt"/>
              <a:ea typeface="+mj-ea"/>
              <a:cs typeface="+mj-cs"/>
            </a:endParaRPr>
          </a:p>
          <a:p>
            <a:pPr marL="0" marR="0" lvl="0" indent="0" algn="ctr" fontAlgn="base">
              <a:lnSpc>
                <a:spcPct val="90000"/>
              </a:lnSpc>
              <a:spcBef>
                <a:spcPct val="0"/>
              </a:spcBef>
              <a:spcAft>
                <a:spcPts val="600"/>
              </a:spcAft>
              <a:buClrTx/>
              <a:buSzTx/>
              <a:tabLst/>
            </a:pPr>
            <a:r>
              <a:rPr kumimoji="0" lang="en-US" altLang="en-US" sz="2800" b="1" i="0" u="none" strike="noStrike" kern="1200" cap="none" normalizeH="0" baseline="0" dirty="0">
                <a:ln>
                  <a:noFill/>
                </a:ln>
                <a:solidFill>
                  <a:schemeClr val="bg1"/>
                </a:solidFill>
                <a:effectLst/>
                <a:latin typeface="+mj-lt"/>
                <a:ea typeface="+mj-ea"/>
                <a:cs typeface="+mj-cs"/>
              </a:rPr>
              <a:t>🤖 How is Agentic AI Different from Regular ML/LLMs?</a:t>
            </a:r>
          </a:p>
          <a:p>
            <a:pPr marL="0" marR="0" lvl="0" indent="0" algn="ctr" fontAlgn="base">
              <a:lnSpc>
                <a:spcPct val="90000"/>
              </a:lnSpc>
              <a:spcBef>
                <a:spcPct val="0"/>
              </a:spcBef>
              <a:spcAft>
                <a:spcPts val="600"/>
              </a:spcAft>
              <a:buClrTx/>
              <a:buSzTx/>
              <a:tabLst/>
            </a:pPr>
            <a:endParaRPr kumimoji="0" lang="en-US" altLang="en-US" sz="2800" b="0" i="0" u="none" strike="noStrike" kern="1200" cap="none" normalizeH="0" baseline="0" dirty="0">
              <a:ln>
                <a:noFill/>
              </a:ln>
              <a:solidFill>
                <a:schemeClr val="bg1"/>
              </a:solidFill>
              <a:effectLst/>
              <a:latin typeface="+mj-lt"/>
              <a:ea typeface="+mj-ea"/>
              <a:cs typeface="+mj-cs"/>
            </a:endParaRPr>
          </a:p>
        </p:txBody>
      </p:sp>
      <p:graphicFrame>
        <p:nvGraphicFramePr>
          <p:cNvPr id="4" name="Table 3">
            <a:extLst>
              <a:ext uri="{FF2B5EF4-FFF2-40B4-BE49-F238E27FC236}">
                <a16:creationId xmlns:a16="http://schemas.microsoft.com/office/drawing/2014/main" id="{828AC3DB-A844-6639-1882-D6A400FF1120}"/>
              </a:ext>
            </a:extLst>
          </p:cNvPr>
          <p:cNvGraphicFramePr>
            <a:graphicFrameLocks noGrp="1"/>
          </p:cNvGraphicFramePr>
          <p:nvPr>
            <p:extLst>
              <p:ext uri="{D42A27DB-BD31-4B8C-83A1-F6EECF244321}">
                <p14:modId xmlns:p14="http://schemas.microsoft.com/office/powerpoint/2010/main" val="3875038525"/>
              </p:ext>
            </p:extLst>
          </p:nvPr>
        </p:nvGraphicFramePr>
        <p:xfrm>
          <a:off x="1161836" y="1675227"/>
          <a:ext cx="9868329" cy="4394202"/>
        </p:xfrm>
        <a:graphic>
          <a:graphicData uri="http://schemas.openxmlformats.org/drawingml/2006/table">
            <a:tbl>
              <a:tblPr>
                <a:tableStyleId>{2D5ABB26-0587-4C30-8999-92F81FD0307C}</a:tableStyleId>
              </a:tblPr>
              <a:tblGrid>
                <a:gridCol w="2168826">
                  <a:extLst>
                    <a:ext uri="{9D8B030D-6E8A-4147-A177-3AD203B41FA5}">
                      <a16:colId xmlns:a16="http://schemas.microsoft.com/office/drawing/2014/main" val="284376762"/>
                    </a:ext>
                  </a:extLst>
                </a:gridCol>
                <a:gridCol w="3634248">
                  <a:extLst>
                    <a:ext uri="{9D8B030D-6E8A-4147-A177-3AD203B41FA5}">
                      <a16:colId xmlns:a16="http://schemas.microsoft.com/office/drawing/2014/main" val="1232103643"/>
                    </a:ext>
                  </a:extLst>
                </a:gridCol>
                <a:gridCol w="4065255">
                  <a:extLst>
                    <a:ext uri="{9D8B030D-6E8A-4147-A177-3AD203B41FA5}">
                      <a16:colId xmlns:a16="http://schemas.microsoft.com/office/drawing/2014/main" val="1419636629"/>
                    </a:ext>
                  </a:extLst>
                </a:gridCol>
              </a:tblGrid>
              <a:tr h="546172">
                <a:tc>
                  <a:txBody>
                    <a:bodyPr/>
                    <a:lstStyle/>
                    <a:p>
                      <a:r>
                        <a:rPr lang="en-IN" sz="2400" b="1" dirty="0"/>
                        <a:t>Aspect</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b="1"/>
                        <a:t>Traditional ML / LLM</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b="1" dirty="0"/>
                        <a:t>Agentic AI</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3408161"/>
                  </a:ext>
                </a:extLst>
              </a:tr>
              <a:tr h="546172">
                <a:tc>
                  <a:txBody>
                    <a:bodyPr/>
                    <a:lstStyle/>
                    <a:p>
                      <a:r>
                        <a:rPr lang="en-IN" sz="1800"/>
                        <a:t>Task</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One-shot response</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a:t>Multi-step goal pursuit</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615615"/>
                  </a:ext>
                </a:extLst>
              </a:tr>
              <a:tr h="546172">
                <a:tc>
                  <a:txBody>
                    <a:bodyPr/>
                    <a:lstStyle/>
                    <a:p>
                      <a:r>
                        <a:rPr lang="en-IN" sz="1800"/>
                        <a:t>Memory</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a:t>Stateless</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a:t>Maintains memory/state</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2413449"/>
                  </a:ext>
                </a:extLst>
              </a:tr>
              <a:tr h="546172">
                <a:tc>
                  <a:txBody>
                    <a:bodyPr/>
                    <a:lstStyle/>
                    <a:p>
                      <a:r>
                        <a:rPr lang="en-IN" sz="1800"/>
                        <a:t>Tools</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a:t>Passive usage</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a:t>Actively uses tools / APIs</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3596041"/>
                  </a:ext>
                </a:extLst>
              </a:tr>
              <a:tr h="918562">
                <a:tc>
                  <a:txBody>
                    <a:bodyPr/>
                    <a:lstStyle/>
                    <a:p>
                      <a:r>
                        <a:rPr lang="en-IN" sz="1800"/>
                        <a:t>Control Flow</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a:t>Prompt in → Response out</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a:t>Plans, loops, branches</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8603297"/>
                  </a:ext>
                </a:extLst>
              </a:tr>
              <a:tr h="1290952">
                <a:tc>
                  <a:txBody>
                    <a:bodyPr/>
                    <a:lstStyle/>
                    <a:p>
                      <a:r>
                        <a:rPr lang="en-IN" sz="1800" dirty="0"/>
                        <a:t>Use Case</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a:t>Q&amp;A, classification, regression</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Workflow automation, task orchestration, decision-making</a:t>
                      </a:r>
                    </a:p>
                  </a:txBody>
                  <a:tcPr marL="124130" marR="124130" marT="62065" marB="62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0346399"/>
                  </a:ext>
                </a:extLst>
              </a:tr>
            </a:tbl>
          </a:graphicData>
        </a:graphic>
      </p:graphicFrame>
    </p:spTree>
    <p:extLst>
      <p:ext uri="{BB962C8B-B14F-4D97-AF65-F5344CB8AC3E}">
        <p14:creationId xmlns:p14="http://schemas.microsoft.com/office/powerpoint/2010/main" val="2577714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3076C9-99D8-DCBB-4A4C-876DF0A17EA7}"/>
              </a:ext>
            </a:extLst>
          </p:cNvPr>
          <p:cNvPicPr>
            <a:picLocks noChangeAspect="1"/>
          </p:cNvPicPr>
          <p:nvPr/>
        </p:nvPicPr>
        <p:blipFill>
          <a:blip r:embed="rId2"/>
          <a:stretch>
            <a:fillRect/>
          </a:stretch>
        </p:blipFill>
        <p:spPr>
          <a:xfrm>
            <a:off x="643467" y="1043517"/>
            <a:ext cx="10905066" cy="4770965"/>
          </a:xfrm>
          <a:prstGeom prst="rect">
            <a:avLst/>
          </a:prstGeom>
        </p:spPr>
      </p:pic>
    </p:spTree>
    <p:extLst>
      <p:ext uri="{BB962C8B-B14F-4D97-AF65-F5344CB8AC3E}">
        <p14:creationId xmlns:p14="http://schemas.microsoft.com/office/powerpoint/2010/main" val="1694949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FEF850-0B27-A561-AFB2-118E98C41E9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9364F9C-EFA7-2545-FD1E-4A581B6FBC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B7800899-8546-A27C-E840-A3824B916DE3}"/>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algn="ctr">
              <a:buNone/>
            </a:pPr>
            <a:r>
              <a:rPr lang="en-IN" sz="2800" b="1" dirty="0">
                <a:solidFill>
                  <a:schemeClr val="bg1"/>
                </a:solidFill>
              </a:rPr>
              <a:t>When to use what?</a:t>
            </a:r>
          </a:p>
        </p:txBody>
      </p:sp>
      <p:sp>
        <p:nvSpPr>
          <p:cNvPr id="3" name="TextBox 2">
            <a:extLst>
              <a:ext uri="{FF2B5EF4-FFF2-40B4-BE49-F238E27FC236}">
                <a16:creationId xmlns:a16="http://schemas.microsoft.com/office/drawing/2014/main" id="{2EA9868C-6C6D-7EF0-59A8-E7009DB11C52}"/>
              </a:ext>
            </a:extLst>
          </p:cNvPr>
          <p:cNvSpPr txBox="1"/>
          <p:nvPr/>
        </p:nvSpPr>
        <p:spPr>
          <a:xfrm>
            <a:off x="697831" y="2081787"/>
            <a:ext cx="11326529" cy="1498680"/>
          </a:xfrm>
          <a:prstGeom prst="rect">
            <a:avLst/>
          </a:prstGeom>
          <a:noFill/>
        </p:spPr>
        <p:txBody>
          <a:bodyPr wrap="square">
            <a:spAutoFit/>
          </a:bodyPr>
          <a:lstStyle/>
          <a:p>
            <a:pPr>
              <a:lnSpc>
                <a:spcPct val="150000"/>
              </a:lnSpc>
              <a:buNone/>
            </a:pPr>
            <a:r>
              <a:rPr lang="en-IN" sz="3200" dirty="0"/>
              <a:t>Given a dataset, how do we decide whether to apply Traditional AI, Generative AI, or Agentic AI?</a:t>
            </a:r>
          </a:p>
        </p:txBody>
      </p:sp>
    </p:spTree>
    <p:extLst>
      <p:ext uri="{BB962C8B-B14F-4D97-AF65-F5344CB8AC3E}">
        <p14:creationId xmlns:p14="http://schemas.microsoft.com/office/powerpoint/2010/main" val="2588356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55EAB7-6F98-E5DE-119D-7923C9E2F88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F4101A1-CF40-2216-093D-E6CE8C7F6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24A2013C-950B-8C69-2BF6-6FFAAB49ACE4}"/>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algn="ctr">
              <a:buNone/>
            </a:pPr>
            <a:r>
              <a:rPr lang="en-IN" sz="2800" b="1" dirty="0">
                <a:solidFill>
                  <a:schemeClr val="bg1"/>
                </a:solidFill>
              </a:rPr>
              <a:t>Traditional AI</a:t>
            </a:r>
          </a:p>
        </p:txBody>
      </p:sp>
      <p:sp>
        <p:nvSpPr>
          <p:cNvPr id="3" name="TextBox 2">
            <a:extLst>
              <a:ext uri="{FF2B5EF4-FFF2-40B4-BE49-F238E27FC236}">
                <a16:creationId xmlns:a16="http://schemas.microsoft.com/office/drawing/2014/main" id="{B77DE315-6CB3-6301-6399-E57AD1A20637}"/>
              </a:ext>
            </a:extLst>
          </p:cNvPr>
          <p:cNvSpPr txBox="1"/>
          <p:nvPr/>
        </p:nvSpPr>
        <p:spPr>
          <a:xfrm>
            <a:off x="697831" y="1776987"/>
            <a:ext cx="11326529" cy="4893647"/>
          </a:xfrm>
          <a:prstGeom prst="rect">
            <a:avLst/>
          </a:prstGeom>
          <a:noFill/>
        </p:spPr>
        <p:txBody>
          <a:bodyPr wrap="square">
            <a:spAutoFit/>
          </a:bodyPr>
          <a:lstStyle/>
          <a:p>
            <a:pPr marL="342900" indent="-342900">
              <a:buFont typeface="Arial" panose="020B0604020202020204" pitchFamily="34" charset="0"/>
              <a:buChar char="•"/>
            </a:pPr>
            <a:r>
              <a:rPr lang="en-IN" sz="2400" b="1" u="sng" dirty="0"/>
              <a:t>You have : </a:t>
            </a:r>
            <a:r>
              <a:rPr lang="en-IN" sz="2400" b="1" dirty="0"/>
              <a:t>Structured data</a:t>
            </a:r>
            <a:r>
              <a:rPr lang="en-IN" sz="2400" dirty="0"/>
              <a:t> (tables, time series, images).</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b="1" dirty="0"/>
              <a:t>A</a:t>
            </a:r>
            <a:r>
              <a:rPr lang="en-IN" sz="2400" dirty="0"/>
              <a:t> </a:t>
            </a:r>
            <a:r>
              <a:rPr lang="en-IN" sz="2400" b="1" dirty="0"/>
              <a:t>clear, narrow task</a:t>
            </a:r>
            <a:r>
              <a:rPr lang="en-IN" sz="2400" dirty="0"/>
              <a:t> like:</a:t>
            </a:r>
          </a:p>
          <a:p>
            <a:pPr marL="800100" lvl="1" indent="-342900">
              <a:buFont typeface="Arial" panose="020B0604020202020204" pitchFamily="34" charset="0"/>
              <a:buChar char="•"/>
            </a:pPr>
            <a:r>
              <a:rPr lang="en-IN" sz="2400" dirty="0"/>
              <a:t>Classification (spam/not spam),</a:t>
            </a:r>
          </a:p>
          <a:p>
            <a:pPr marL="800100" lvl="1" indent="-342900">
              <a:buFont typeface="Arial" panose="020B0604020202020204" pitchFamily="34" charset="0"/>
              <a:buChar char="•"/>
            </a:pPr>
            <a:r>
              <a:rPr lang="en-IN" sz="2400" dirty="0"/>
              <a:t>Regression (predict sales),</a:t>
            </a:r>
          </a:p>
          <a:p>
            <a:pPr marL="800100" lvl="1" indent="-342900">
              <a:buFont typeface="Arial" panose="020B0604020202020204" pitchFamily="34" charset="0"/>
              <a:buChar char="•"/>
            </a:pPr>
            <a:r>
              <a:rPr lang="en-IN" sz="2400" dirty="0"/>
              <a:t>Clustering (group customers),</a:t>
            </a:r>
          </a:p>
          <a:p>
            <a:pPr marL="800100" lvl="1" indent="-342900">
              <a:buFont typeface="Arial" panose="020B0604020202020204" pitchFamily="34" charset="0"/>
              <a:buChar char="•"/>
            </a:pPr>
            <a:r>
              <a:rPr lang="en-IN" sz="2400" dirty="0"/>
              <a:t>Forecasting (time series),</a:t>
            </a:r>
          </a:p>
          <a:p>
            <a:pPr marL="800100" lvl="1" indent="-342900">
              <a:buFont typeface="Arial" panose="020B0604020202020204" pitchFamily="34" charset="0"/>
              <a:buChar char="•"/>
            </a:pPr>
            <a:r>
              <a:rPr lang="en-IN" sz="2400" dirty="0"/>
              <a:t>Computer vision (object detection),</a:t>
            </a:r>
          </a:p>
          <a:p>
            <a:pPr marL="800100" lvl="1" indent="-342900">
              <a:buFont typeface="Arial" panose="020B0604020202020204" pitchFamily="34" charset="0"/>
              <a:buChar char="•"/>
            </a:pPr>
            <a:r>
              <a:rPr lang="en-IN" sz="2400" dirty="0"/>
              <a:t>Rule-based decision-making (fraud scoring).</a:t>
            </a:r>
          </a:p>
          <a:p>
            <a:pPr marL="342900" indent="-342900">
              <a:buFont typeface="Arial" panose="020B0604020202020204" pitchFamily="34" charset="0"/>
              <a:buChar char="•"/>
            </a:pPr>
            <a:r>
              <a:rPr lang="en-IN" sz="2400" dirty="0"/>
              <a:t>🔧 </a:t>
            </a:r>
            <a:r>
              <a:rPr lang="en-IN" sz="2400" b="1" dirty="0"/>
              <a:t>Tech used:</a:t>
            </a:r>
            <a:r>
              <a:rPr lang="en-IN" sz="2400" dirty="0"/>
              <a:t> </a:t>
            </a:r>
            <a:r>
              <a:rPr lang="en-IN" sz="2400" dirty="0" err="1"/>
              <a:t>XGBoost</a:t>
            </a:r>
            <a:r>
              <a:rPr lang="en-IN" sz="2400" dirty="0"/>
              <a:t>, Random Forest, SVM, ARIMA, LSTM, CNN, etc.</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b="1" dirty="0"/>
              <a:t>Key trait:</a:t>
            </a:r>
            <a:r>
              <a:rPr lang="en-IN" sz="2400" dirty="0"/>
              <a:t> It learns from past data and makes predictions — but </a:t>
            </a:r>
            <a:r>
              <a:rPr lang="en-IN" sz="2400" b="1" dirty="0"/>
              <a:t>no language, no open-ended understanding, no real-world planning</a:t>
            </a:r>
            <a:r>
              <a:rPr lang="en-IN" sz="2400" dirty="0"/>
              <a:t>.</a:t>
            </a:r>
          </a:p>
        </p:txBody>
      </p:sp>
    </p:spTree>
    <p:extLst>
      <p:ext uri="{BB962C8B-B14F-4D97-AF65-F5344CB8AC3E}">
        <p14:creationId xmlns:p14="http://schemas.microsoft.com/office/powerpoint/2010/main" val="2389535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F43BAA-5366-13C5-7B4D-83D44539E8F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82C01C5-87EE-32AC-27E5-C5AA7111F7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698DD769-1F71-3B41-BA7F-4E3BCAEE4118}"/>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algn="ctr">
              <a:buNone/>
            </a:pPr>
            <a:r>
              <a:rPr lang="en-IN" sz="2800" b="1" dirty="0">
                <a:solidFill>
                  <a:schemeClr val="bg1"/>
                </a:solidFill>
              </a:rPr>
              <a:t>GenAI</a:t>
            </a:r>
          </a:p>
        </p:txBody>
      </p:sp>
      <p:sp>
        <p:nvSpPr>
          <p:cNvPr id="3" name="TextBox 2">
            <a:extLst>
              <a:ext uri="{FF2B5EF4-FFF2-40B4-BE49-F238E27FC236}">
                <a16:creationId xmlns:a16="http://schemas.microsoft.com/office/drawing/2014/main" id="{37EDA773-7EBB-6D55-810A-AEA510133F5F}"/>
              </a:ext>
            </a:extLst>
          </p:cNvPr>
          <p:cNvSpPr txBox="1"/>
          <p:nvPr/>
        </p:nvSpPr>
        <p:spPr>
          <a:xfrm>
            <a:off x="697831" y="1548387"/>
            <a:ext cx="11326529" cy="5262979"/>
          </a:xfrm>
          <a:prstGeom prst="rect">
            <a:avLst/>
          </a:prstGeom>
          <a:noFill/>
        </p:spPr>
        <p:txBody>
          <a:bodyPr wrap="square">
            <a:spAutoFit/>
          </a:bodyPr>
          <a:lstStyle/>
          <a:p>
            <a:pPr marL="457200" indent="-457200">
              <a:buFont typeface="Arial" panose="020B0604020202020204" pitchFamily="34" charset="0"/>
              <a:buChar char="•"/>
            </a:pPr>
            <a:r>
              <a:rPr lang="en-IN" sz="2800" b="1" u="sng" dirty="0"/>
              <a:t>You have : </a:t>
            </a:r>
            <a:r>
              <a:rPr lang="en-IN" sz="2800" b="1" dirty="0"/>
              <a:t>Unstructured data</a:t>
            </a:r>
            <a:r>
              <a:rPr lang="en-IN" sz="2800" dirty="0"/>
              <a:t> like text, code, images, audio.</a:t>
            </a:r>
          </a:p>
          <a:p>
            <a:pPr marL="457200" indent="-457200">
              <a:buFont typeface="Arial" panose="020B0604020202020204" pitchFamily="34" charset="0"/>
              <a:buChar char="•"/>
            </a:pPr>
            <a:endParaRPr lang="en-IN" sz="2800" dirty="0"/>
          </a:p>
          <a:p>
            <a:pPr marL="457200" indent="-457200">
              <a:buFont typeface="Arial" panose="020B0604020202020204" pitchFamily="34" charset="0"/>
              <a:buChar char="•"/>
            </a:pPr>
            <a:r>
              <a:rPr lang="en-IN" sz="2800" dirty="0"/>
              <a:t>You need:</a:t>
            </a:r>
          </a:p>
          <a:p>
            <a:pPr marL="914400" lvl="1" indent="-457200">
              <a:buFont typeface="Arial" panose="020B0604020202020204" pitchFamily="34" charset="0"/>
              <a:buChar char="•"/>
            </a:pPr>
            <a:r>
              <a:rPr lang="en-IN" sz="2800" dirty="0"/>
              <a:t>Summarization, Q&amp;A, translation.</a:t>
            </a:r>
          </a:p>
          <a:p>
            <a:pPr marL="914400" lvl="1" indent="-457200">
              <a:buFont typeface="Arial" panose="020B0604020202020204" pitchFamily="34" charset="0"/>
              <a:buChar char="•"/>
            </a:pPr>
            <a:r>
              <a:rPr lang="en-IN" sz="2800" dirty="0"/>
              <a:t>Writing content (emails, blogs).</a:t>
            </a:r>
          </a:p>
          <a:p>
            <a:pPr marL="914400" lvl="1" indent="-457200">
              <a:buFont typeface="Arial" panose="020B0604020202020204" pitchFamily="34" charset="0"/>
              <a:buChar char="•"/>
            </a:pPr>
            <a:r>
              <a:rPr lang="en-IN" sz="2800" dirty="0"/>
              <a:t>Code generation, data extraction from documents.</a:t>
            </a:r>
          </a:p>
          <a:p>
            <a:pPr marL="914400" lvl="1" indent="-457200">
              <a:buFont typeface="Arial" panose="020B0604020202020204" pitchFamily="34" charset="0"/>
              <a:buChar char="•"/>
            </a:pPr>
            <a:r>
              <a:rPr lang="en-IN" sz="2800" dirty="0"/>
              <a:t>Chatbots, NLP/NLU applications.</a:t>
            </a:r>
          </a:p>
          <a:p>
            <a:pPr marL="914400" lvl="1" indent="-457200">
              <a:buFont typeface="Arial" panose="020B0604020202020204" pitchFamily="34" charset="0"/>
              <a:buChar char="•"/>
            </a:pPr>
            <a:r>
              <a:rPr lang="en-IN" sz="2800" dirty="0"/>
              <a:t>Working with embeddings for document similarity or search.</a:t>
            </a:r>
          </a:p>
          <a:p>
            <a:pPr marL="914400" lvl="1" indent="-457200">
              <a:buFont typeface="Arial" panose="020B0604020202020204" pitchFamily="34" charset="0"/>
              <a:buChar char="•"/>
            </a:pPr>
            <a:endParaRPr lang="en-IN" sz="2800" dirty="0"/>
          </a:p>
          <a:p>
            <a:pPr marL="457200" indent="-457200">
              <a:buFont typeface="Arial" panose="020B0604020202020204" pitchFamily="34" charset="0"/>
              <a:buChar char="•"/>
            </a:pPr>
            <a:r>
              <a:rPr lang="en-IN" sz="2800" b="1" dirty="0"/>
              <a:t>Key trait:</a:t>
            </a:r>
            <a:r>
              <a:rPr lang="en-IN" sz="2800" dirty="0"/>
              <a:t> GenAI like LLMs (ChatGPT, Gemini, Claude, </a:t>
            </a:r>
            <a:r>
              <a:rPr lang="en-IN" sz="2800" dirty="0" err="1"/>
              <a:t>LLaMA</a:t>
            </a:r>
            <a:r>
              <a:rPr lang="en-IN" sz="2800" dirty="0"/>
              <a:t>) </a:t>
            </a:r>
            <a:r>
              <a:rPr lang="en-IN" sz="2800" b="1" dirty="0"/>
              <a:t>generates</a:t>
            </a:r>
            <a:r>
              <a:rPr lang="en-IN" sz="2800" dirty="0"/>
              <a:t> human-like responses from patterns in data, but </a:t>
            </a:r>
            <a:r>
              <a:rPr lang="en-IN" sz="2800" b="1" dirty="0"/>
              <a:t>requires prompts</a:t>
            </a:r>
            <a:r>
              <a:rPr lang="en-IN" sz="2800" dirty="0"/>
              <a:t> and </a:t>
            </a:r>
            <a:r>
              <a:rPr lang="en-IN" sz="2800" b="1" dirty="0"/>
              <a:t>doesn't plan or remember goals</a:t>
            </a:r>
            <a:r>
              <a:rPr lang="en-IN" sz="2800" dirty="0"/>
              <a:t>.</a:t>
            </a:r>
          </a:p>
        </p:txBody>
      </p:sp>
    </p:spTree>
    <p:extLst>
      <p:ext uri="{BB962C8B-B14F-4D97-AF65-F5344CB8AC3E}">
        <p14:creationId xmlns:p14="http://schemas.microsoft.com/office/powerpoint/2010/main" val="106513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66D132-93AB-1700-8A1A-69DC15D6886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CE422D6-C4A7-3235-4C0F-12C13B88F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B451D8FE-8861-7345-37B7-4DFAC025DD85}"/>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algn="ctr">
              <a:buNone/>
            </a:pPr>
            <a:r>
              <a:rPr lang="en-IN" sz="2800" b="1" dirty="0">
                <a:solidFill>
                  <a:schemeClr val="bg1"/>
                </a:solidFill>
              </a:rPr>
              <a:t>Agentic AI</a:t>
            </a:r>
          </a:p>
        </p:txBody>
      </p:sp>
      <p:sp>
        <p:nvSpPr>
          <p:cNvPr id="3" name="TextBox 2">
            <a:extLst>
              <a:ext uri="{FF2B5EF4-FFF2-40B4-BE49-F238E27FC236}">
                <a16:creationId xmlns:a16="http://schemas.microsoft.com/office/drawing/2014/main" id="{31E1867D-D337-7A1B-2897-B4259DDD60E9}"/>
              </a:ext>
            </a:extLst>
          </p:cNvPr>
          <p:cNvSpPr txBox="1"/>
          <p:nvPr/>
        </p:nvSpPr>
        <p:spPr>
          <a:xfrm>
            <a:off x="743551" y="1456947"/>
            <a:ext cx="11326529" cy="5509200"/>
          </a:xfrm>
          <a:prstGeom prst="rect">
            <a:avLst/>
          </a:prstGeom>
          <a:noFill/>
        </p:spPr>
        <p:txBody>
          <a:bodyPr wrap="square">
            <a:spAutoFit/>
          </a:bodyPr>
          <a:lstStyle/>
          <a:p>
            <a:pPr marL="342900" indent="-342900">
              <a:buFont typeface="Arial" panose="020B0604020202020204" pitchFamily="34" charset="0"/>
              <a:buChar char="•"/>
            </a:pPr>
            <a:r>
              <a:rPr lang="en-IN" sz="2000" b="1" u="sng" dirty="0"/>
              <a:t>You have : </a:t>
            </a:r>
            <a:r>
              <a:rPr lang="en-IN" sz="2200" dirty="0"/>
              <a:t>A </a:t>
            </a:r>
            <a:r>
              <a:rPr lang="en-IN" sz="2200" b="1" dirty="0"/>
              <a:t>goal</a:t>
            </a:r>
            <a:r>
              <a:rPr lang="en-IN" sz="2200" dirty="0"/>
              <a:t> rather than just a question.</a:t>
            </a:r>
          </a:p>
          <a:p>
            <a:pPr marL="342900" indent="-342900">
              <a:buFont typeface="Arial" panose="020B0604020202020204" pitchFamily="34" charset="0"/>
              <a:buChar char="•"/>
            </a:pPr>
            <a:r>
              <a:rPr lang="en-IN" sz="2200" dirty="0"/>
              <a:t>Need to </a:t>
            </a:r>
            <a:r>
              <a:rPr lang="en-IN" sz="2200" b="1" dirty="0"/>
              <a:t>automate multi-step tasks</a:t>
            </a:r>
            <a:r>
              <a:rPr lang="en-IN" sz="2200" dirty="0"/>
              <a:t> that involve planning, reasoning, and decision-making.</a:t>
            </a:r>
          </a:p>
          <a:p>
            <a:pPr marL="342900" indent="-342900">
              <a:buFont typeface="Arial" panose="020B0604020202020204" pitchFamily="34" charset="0"/>
              <a:buChar char="•"/>
            </a:pPr>
            <a:r>
              <a:rPr lang="en-IN" sz="2200" dirty="0"/>
              <a:t>Want to integrate tools, memory, and APIs.</a:t>
            </a:r>
          </a:p>
          <a:p>
            <a:pPr marL="342900" indent="-342900">
              <a:buFont typeface="Arial" panose="020B0604020202020204" pitchFamily="34" charset="0"/>
              <a:buChar char="•"/>
            </a:pPr>
            <a:r>
              <a:rPr lang="en-IN" sz="2200" dirty="0"/>
              <a:t>Examples:</a:t>
            </a:r>
          </a:p>
          <a:p>
            <a:pPr marL="800100" lvl="1" indent="-342900">
              <a:buFont typeface="Arial" panose="020B0604020202020204" pitchFamily="34" charset="0"/>
              <a:buChar char="•"/>
            </a:pPr>
            <a:r>
              <a:rPr lang="en-IN" sz="2200" dirty="0"/>
              <a:t>“Research top 5 startup funding trends and create a report with graphs.”</a:t>
            </a:r>
          </a:p>
          <a:p>
            <a:pPr marL="800100" lvl="1" indent="-342900">
              <a:buFont typeface="Arial" panose="020B0604020202020204" pitchFamily="34" charset="0"/>
              <a:buChar char="•"/>
            </a:pPr>
            <a:r>
              <a:rPr lang="en-IN" sz="2200" dirty="0"/>
              <a:t>“Monitor stock prices and alert me if my portfolio falls by 10%.”</a:t>
            </a:r>
          </a:p>
          <a:p>
            <a:pPr marL="800100" lvl="1" indent="-342900">
              <a:buFont typeface="Arial" panose="020B0604020202020204" pitchFamily="34" charset="0"/>
              <a:buChar char="•"/>
            </a:pPr>
            <a:r>
              <a:rPr lang="en-IN" sz="2200" dirty="0"/>
              <a:t>“Extract data from 100 PDFs, enrich with an API, and load to database.”</a:t>
            </a:r>
          </a:p>
          <a:p>
            <a:pPr marL="342900" indent="-342900">
              <a:buFont typeface="Arial" panose="020B0604020202020204" pitchFamily="34" charset="0"/>
              <a:buChar char="•"/>
            </a:pPr>
            <a:r>
              <a:rPr lang="en-IN" sz="2200" b="1" dirty="0"/>
              <a:t>Key trait:</a:t>
            </a:r>
            <a:r>
              <a:rPr lang="en-IN" sz="2200" dirty="0"/>
              <a:t> Agents can:</a:t>
            </a:r>
          </a:p>
          <a:p>
            <a:pPr marL="800100" lvl="1" indent="-342900">
              <a:buFont typeface="Arial" panose="020B0604020202020204" pitchFamily="34" charset="0"/>
              <a:buChar char="•"/>
            </a:pPr>
            <a:r>
              <a:rPr lang="en-IN" sz="2200" dirty="0"/>
              <a:t>Take </a:t>
            </a:r>
            <a:r>
              <a:rPr lang="en-IN" sz="2200" b="1" dirty="0"/>
              <a:t>goals</a:t>
            </a:r>
            <a:r>
              <a:rPr lang="en-IN" sz="2200" dirty="0"/>
              <a:t>, not just instructions.</a:t>
            </a:r>
          </a:p>
          <a:p>
            <a:pPr marL="800100" lvl="1" indent="-342900">
              <a:buFont typeface="Arial" panose="020B0604020202020204" pitchFamily="34" charset="0"/>
              <a:buChar char="•"/>
            </a:pPr>
            <a:r>
              <a:rPr lang="en-IN" sz="2200" b="1" dirty="0"/>
              <a:t>Decide next steps</a:t>
            </a:r>
            <a:r>
              <a:rPr lang="en-IN" sz="2200" dirty="0"/>
              <a:t>.</a:t>
            </a:r>
          </a:p>
          <a:p>
            <a:pPr marL="800100" lvl="1" indent="-342900">
              <a:buFont typeface="Arial" panose="020B0604020202020204" pitchFamily="34" charset="0"/>
              <a:buChar char="•"/>
            </a:pPr>
            <a:r>
              <a:rPr lang="en-IN" sz="2200" dirty="0"/>
              <a:t>Use </a:t>
            </a:r>
            <a:r>
              <a:rPr lang="en-IN" sz="2200" b="1" dirty="0"/>
              <a:t>tools</a:t>
            </a:r>
            <a:r>
              <a:rPr lang="en-IN" sz="2200" dirty="0"/>
              <a:t> (search, APIs).</a:t>
            </a:r>
          </a:p>
          <a:p>
            <a:pPr marL="800100" lvl="1" indent="-342900">
              <a:buFont typeface="Arial" panose="020B0604020202020204" pitchFamily="34" charset="0"/>
              <a:buChar char="•"/>
            </a:pPr>
            <a:r>
              <a:rPr lang="en-IN" sz="2200" dirty="0"/>
              <a:t>Store and </a:t>
            </a:r>
            <a:r>
              <a:rPr lang="en-IN" sz="2200" b="1" dirty="0"/>
              <a:t>use memory</a:t>
            </a:r>
            <a:r>
              <a:rPr lang="en-IN" sz="2200" dirty="0"/>
              <a:t>.</a:t>
            </a:r>
          </a:p>
          <a:p>
            <a:pPr marL="800100" lvl="1" indent="-342900">
              <a:buFont typeface="Arial" panose="020B0604020202020204" pitchFamily="34" charset="0"/>
              <a:buChar char="•"/>
            </a:pPr>
            <a:r>
              <a:rPr lang="en-IN" sz="2200" dirty="0"/>
              <a:t>Interact with the environment over time.</a:t>
            </a:r>
          </a:p>
          <a:p>
            <a:pPr marL="342900" indent="-342900">
              <a:buFont typeface="Arial" panose="020B0604020202020204" pitchFamily="34" charset="0"/>
              <a:buChar char="•"/>
            </a:pPr>
            <a:r>
              <a:rPr lang="en-IN" sz="2200" dirty="0"/>
              <a:t>🛠️ </a:t>
            </a:r>
            <a:r>
              <a:rPr lang="en-IN" sz="2200" b="1" dirty="0"/>
              <a:t>Tech used:</a:t>
            </a:r>
            <a:r>
              <a:rPr lang="en-IN" sz="2200" dirty="0"/>
              <a:t> </a:t>
            </a:r>
            <a:r>
              <a:rPr lang="en-IN" sz="2200" dirty="0" err="1"/>
              <a:t>LangChain</a:t>
            </a:r>
            <a:r>
              <a:rPr lang="en-IN" sz="2200" dirty="0"/>
              <a:t>, </a:t>
            </a:r>
            <a:r>
              <a:rPr lang="en-IN" sz="2200" dirty="0" err="1"/>
              <a:t>LangGraph</a:t>
            </a:r>
            <a:r>
              <a:rPr lang="en-IN" sz="2200" dirty="0"/>
              <a:t>, </a:t>
            </a:r>
            <a:r>
              <a:rPr lang="en-IN" sz="2200" dirty="0" err="1"/>
              <a:t>Autogen</a:t>
            </a:r>
            <a:r>
              <a:rPr lang="en-IN" sz="2200" dirty="0"/>
              <a:t>, </a:t>
            </a:r>
            <a:r>
              <a:rPr lang="en-IN" sz="2200" dirty="0" err="1"/>
              <a:t>CrewAI</a:t>
            </a:r>
            <a:r>
              <a:rPr lang="en-IN" sz="2200" dirty="0"/>
              <a:t>, OpenAI Functions, </a:t>
            </a:r>
            <a:r>
              <a:rPr lang="en-IN" sz="2200" dirty="0" err="1"/>
              <a:t>Ollama</a:t>
            </a:r>
            <a:r>
              <a:rPr lang="en-IN" sz="2200" dirty="0"/>
              <a:t> + tools, vector DBs, workflows.</a:t>
            </a:r>
          </a:p>
        </p:txBody>
      </p:sp>
    </p:spTree>
    <p:extLst>
      <p:ext uri="{BB962C8B-B14F-4D97-AF65-F5344CB8AC3E}">
        <p14:creationId xmlns:p14="http://schemas.microsoft.com/office/powerpoint/2010/main" val="1477841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4A218E-9C79-C36C-2C1A-606CCD86FEE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82BC208-BF32-5306-A5EB-1360E8801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5A9A00C4-C5A8-9251-02AD-E994B95E413D}"/>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algn="ctr">
              <a:buNone/>
            </a:pPr>
            <a:r>
              <a:rPr lang="en-IN" sz="2800" dirty="0">
                <a:solidFill>
                  <a:schemeClr val="bg1"/>
                </a:solidFill>
              </a:rPr>
              <a:t>Research top 5 startup funding trends and create a report with graphs.</a:t>
            </a:r>
            <a:endParaRPr lang="en-IN" sz="2800" b="1" dirty="0">
              <a:solidFill>
                <a:schemeClr val="bg1"/>
              </a:solidFill>
            </a:endParaRPr>
          </a:p>
        </p:txBody>
      </p:sp>
      <p:sp>
        <p:nvSpPr>
          <p:cNvPr id="3" name="TextBox 2">
            <a:extLst>
              <a:ext uri="{FF2B5EF4-FFF2-40B4-BE49-F238E27FC236}">
                <a16:creationId xmlns:a16="http://schemas.microsoft.com/office/drawing/2014/main" id="{51BF048C-5B69-49D8-146C-E407D4ECF8A1}"/>
              </a:ext>
            </a:extLst>
          </p:cNvPr>
          <p:cNvSpPr txBox="1"/>
          <p:nvPr/>
        </p:nvSpPr>
        <p:spPr>
          <a:xfrm>
            <a:off x="743551" y="1639827"/>
            <a:ext cx="11326529" cy="4031873"/>
          </a:xfrm>
          <a:prstGeom prst="rect">
            <a:avLst/>
          </a:prstGeom>
          <a:noFill/>
        </p:spPr>
        <p:txBody>
          <a:bodyPr wrap="square">
            <a:spAutoFit/>
          </a:bodyPr>
          <a:lstStyle/>
          <a:p>
            <a:r>
              <a:rPr lang="en-IN" sz="3200" b="1" dirty="0"/>
              <a:t>Steps</a:t>
            </a:r>
          </a:p>
          <a:p>
            <a:pPr marL="342900" indent="-342900">
              <a:buFont typeface="Arial" panose="020B0604020202020204" pitchFamily="34" charset="0"/>
              <a:buChar char="•"/>
            </a:pPr>
            <a:endParaRPr lang="en-IN" sz="3200" b="1" dirty="0"/>
          </a:p>
          <a:p>
            <a:pPr marL="342900" indent="-342900">
              <a:buFont typeface="Arial" panose="020B0604020202020204" pitchFamily="34" charset="0"/>
              <a:buChar char="•"/>
            </a:pPr>
            <a:r>
              <a:rPr lang="en-IN" sz="3200" dirty="0"/>
              <a:t>Web/Data Research</a:t>
            </a:r>
          </a:p>
          <a:p>
            <a:pPr marL="342900" indent="-342900">
              <a:buFont typeface="Arial" panose="020B0604020202020204" pitchFamily="34" charset="0"/>
              <a:buChar char="•"/>
            </a:pPr>
            <a:r>
              <a:rPr lang="en-IN" sz="3200" dirty="0"/>
              <a:t>Trend Analysis</a:t>
            </a:r>
          </a:p>
          <a:p>
            <a:pPr marL="342900" indent="-342900">
              <a:buFont typeface="Arial" panose="020B0604020202020204" pitchFamily="34" charset="0"/>
              <a:buChar char="•"/>
            </a:pPr>
            <a:r>
              <a:rPr lang="en-IN" sz="3200" dirty="0"/>
              <a:t>Graph Generation</a:t>
            </a:r>
          </a:p>
          <a:p>
            <a:pPr marL="342900" indent="-342900">
              <a:buFont typeface="Arial" panose="020B0604020202020204" pitchFamily="34" charset="0"/>
              <a:buChar char="•"/>
            </a:pPr>
            <a:r>
              <a:rPr lang="en-IN" sz="3200" dirty="0"/>
              <a:t>Report Writing</a:t>
            </a:r>
          </a:p>
          <a:p>
            <a:pPr marL="342900" indent="-342900">
              <a:buFont typeface="Arial" panose="020B0604020202020204" pitchFamily="34" charset="0"/>
              <a:buChar char="•"/>
            </a:pPr>
            <a:r>
              <a:rPr lang="en-IN" sz="3200" dirty="0"/>
              <a:t>Final Compilation and Output</a:t>
            </a:r>
          </a:p>
          <a:p>
            <a:pPr marL="342900" indent="-342900">
              <a:buFont typeface="Arial" panose="020B0604020202020204" pitchFamily="34" charset="0"/>
              <a:buChar char="•"/>
            </a:pPr>
            <a:endParaRPr lang="en-IN" sz="3200" b="1" dirty="0"/>
          </a:p>
        </p:txBody>
      </p:sp>
    </p:spTree>
    <p:extLst>
      <p:ext uri="{BB962C8B-B14F-4D97-AF65-F5344CB8AC3E}">
        <p14:creationId xmlns:p14="http://schemas.microsoft.com/office/powerpoint/2010/main" val="2890509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93224A-C7B5-1FF8-66B5-3E1694E72DF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B1571D5-1BA9-19BF-FCFD-ED020B19D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E07D445C-AE2B-6D3C-AF74-C9958E8BAE8F}"/>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algn="ctr">
              <a:buNone/>
            </a:pPr>
            <a:r>
              <a:rPr lang="en-IN" sz="2800" dirty="0">
                <a:solidFill>
                  <a:schemeClr val="bg1"/>
                </a:solidFill>
              </a:rPr>
              <a:t>Agents We can create</a:t>
            </a:r>
            <a:endParaRPr lang="en-IN" sz="2800" b="1" dirty="0">
              <a:solidFill>
                <a:schemeClr val="bg1"/>
              </a:solidFill>
            </a:endParaRPr>
          </a:p>
        </p:txBody>
      </p:sp>
      <p:graphicFrame>
        <p:nvGraphicFramePr>
          <p:cNvPr id="2" name="Table 1">
            <a:extLst>
              <a:ext uri="{FF2B5EF4-FFF2-40B4-BE49-F238E27FC236}">
                <a16:creationId xmlns:a16="http://schemas.microsoft.com/office/drawing/2014/main" id="{CF5B5422-110C-35E3-D12C-87D68AD3AF99}"/>
              </a:ext>
            </a:extLst>
          </p:cNvPr>
          <p:cNvGraphicFramePr>
            <a:graphicFrameLocks noGrp="1"/>
          </p:cNvGraphicFramePr>
          <p:nvPr>
            <p:extLst>
              <p:ext uri="{D42A27DB-BD31-4B8C-83A1-F6EECF244321}">
                <p14:modId xmlns:p14="http://schemas.microsoft.com/office/powerpoint/2010/main" val="173298785"/>
              </p:ext>
            </p:extLst>
          </p:nvPr>
        </p:nvGraphicFramePr>
        <p:xfrm>
          <a:off x="556531" y="1825625"/>
          <a:ext cx="11210925" cy="4990857"/>
        </p:xfrm>
        <a:graphic>
          <a:graphicData uri="http://schemas.openxmlformats.org/drawingml/2006/table">
            <a:tbl>
              <a:tblPr/>
              <a:tblGrid>
                <a:gridCol w="2782493">
                  <a:extLst>
                    <a:ext uri="{9D8B030D-6E8A-4147-A177-3AD203B41FA5}">
                      <a16:colId xmlns:a16="http://schemas.microsoft.com/office/drawing/2014/main" val="822114041"/>
                    </a:ext>
                  </a:extLst>
                </a:gridCol>
                <a:gridCol w="8428432">
                  <a:extLst>
                    <a:ext uri="{9D8B030D-6E8A-4147-A177-3AD203B41FA5}">
                      <a16:colId xmlns:a16="http://schemas.microsoft.com/office/drawing/2014/main" val="1499264679"/>
                    </a:ext>
                  </a:extLst>
                </a:gridCol>
              </a:tblGrid>
              <a:tr h="334718">
                <a:tc>
                  <a:txBody>
                    <a:bodyPr/>
                    <a:lstStyle/>
                    <a:p>
                      <a:r>
                        <a:rPr lang="en-IN" sz="2000" b="1" dirty="0"/>
                        <a:t>Agent Name</a:t>
                      </a:r>
                      <a:endParaRPr lang="en-IN" sz="2000" dirty="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b="1" dirty="0"/>
                        <a:t>Role</a:t>
                      </a:r>
                      <a:endParaRPr lang="en-IN" sz="2000" dirty="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1412836"/>
                  </a:ext>
                </a:extLst>
              </a:tr>
              <a:tr h="836796">
                <a:tc>
                  <a:txBody>
                    <a:bodyPr/>
                    <a:lstStyle/>
                    <a:p>
                      <a:r>
                        <a:rPr lang="en-IN" sz="1600" b="1"/>
                        <a:t>Research Agent</a:t>
                      </a:r>
                      <a:endParaRPr lang="en-IN"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a:t>Searches the web (e.g., via SerpAPI, Bing API, or News APIs) to find relevant articles, reports, or data sources.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6197651"/>
                  </a:ext>
                </a:extLst>
              </a:tr>
              <a:tr h="836796">
                <a:tc>
                  <a:txBody>
                    <a:bodyPr/>
                    <a:lstStyle/>
                    <a:p>
                      <a:r>
                        <a:rPr lang="en-IN" sz="1600" b="1"/>
                        <a:t>Data Extraction Agent</a:t>
                      </a:r>
                      <a:endParaRPr lang="en-IN"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a:t>Parses scraped data or documents to extract relevant statistics (e.g., investment amounts, sectors, years).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3409592"/>
                  </a:ext>
                </a:extLst>
              </a:tr>
              <a:tr h="585757">
                <a:tc>
                  <a:txBody>
                    <a:bodyPr/>
                    <a:lstStyle/>
                    <a:p>
                      <a:r>
                        <a:rPr lang="en-IN" sz="1600" b="1"/>
                        <a:t>Trend Analysis Agent</a:t>
                      </a:r>
                      <a:endParaRPr lang="en-IN"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a:t>Performs analytics: e.g., counts trends, ranks sectors, computes YOY growth.</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8736763"/>
                  </a:ext>
                </a:extLst>
              </a:tr>
              <a:tr h="585757">
                <a:tc>
                  <a:txBody>
                    <a:bodyPr/>
                    <a:lstStyle/>
                    <a:p>
                      <a:r>
                        <a:rPr lang="en-IN" sz="1600" b="1"/>
                        <a:t>Graph Builder Agent</a:t>
                      </a:r>
                      <a:endParaRPr lang="en-IN"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a:t>Creates graphs using matplotlib or Plotly based on analyzed data.</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6232315"/>
                  </a:ext>
                </a:extLst>
              </a:tr>
              <a:tr h="585757">
                <a:tc>
                  <a:txBody>
                    <a:bodyPr/>
                    <a:lstStyle/>
                    <a:p>
                      <a:r>
                        <a:rPr lang="en-IN" sz="1600" b="1"/>
                        <a:t>Report Writer Agent</a:t>
                      </a:r>
                      <a:endParaRPr lang="en-IN"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a:t>Summarizes findings in natural language, formats text, and embeds graphs.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6957590"/>
                  </a:ext>
                </a:extLst>
              </a:tr>
              <a:tr h="585757">
                <a:tc>
                  <a:txBody>
                    <a:bodyPr/>
                    <a:lstStyle/>
                    <a:p>
                      <a:r>
                        <a:rPr lang="en-IN" sz="1600" b="1" dirty="0"/>
                        <a:t>Orchestrator Agent</a:t>
                      </a:r>
                      <a:endParaRPr lang="en-IN" sz="1600" dirty="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t>Controls flow: assigns tasks to sub-agents, checks progress, combines outputs.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9207718"/>
                  </a:ext>
                </a:extLst>
              </a:tr>
              <a:tr h="585757">
                <a:tc>
                  <a:txBody>
                    <a:bodyPr/>
                    <a:lstStyle/>
                    <a:p>
                      <a:r>
                        <a:rPr lang="en-IN" sz="1600" b="1" dirty="0"/>
                        <a:t>Critic Agent</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t>Reviews draft report, suggests improvements or rephrasing.</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1334775"/>
                  </a:ext>
                </a:extLst>
              </a:tr>
            </a:tbl>
          </a:graphicData>
        </a:graphic>
      </p:graphicFrame>
    </p:spTree>
    <p:extLst>
      <p:ext uri="{BB962C8B-B14F-4D97-AF65-F5344CB8AC3E}">
        <p14:creationId xmlns:p14="http://schemas.microsoft.com/office/powerpoint/2010/main" val="3919258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64062C-381D-62F5-C101-16290619117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F4FCEF5-FB6B-FF9F-9EB5-246C1F7F4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650C01AF-B175-2D97-2772-2A935DB10F17}"/>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algn="ctr">
              <a:buNone/>
            </a:pPr>
            <a:r>
              <a:rPr lang="en-IN" sz="2800" dirty="0">
                <a:solidFill>
                  <a:schemeClr val="bg1"/>
                </a:solidFill>
              </a:rPr>
              <a:t>High Level Architecture</a:t>
            </a:r>
            <a:endParaRPr lang="en-IN" sz="2800" b="1" dirty="0">
              <a:solidFill>
                <a:schemeClr val="bg1"/>
              </a:solidFill>
            </a:endParaRPr>
          </a:p>
        </p:txBody>
      </p:sp>
      <p:sp>
        <p:nvSpPr>
          <p:cNvPr id="3" name="Rectangle 2">
            <a:extLst>
              <a:ext uri="{FF2B5EF4-FFF2-40B4-BE49-F238E27FC236}">
                <a16:creationId xmlns:a16="http://schemas.microsoft.com/office/drawing/2014/main" id="{037736E3-7985-D176-DD38-E5D0D026ADBB}"/>
              </a:ext>
            </a:extLst>
          </p:cNvPr>
          <p:cNvSpPr/>
          <p:nvPr/>
        </p:nvSpPr>
        <p:spPr>
          <a:xfrm>
            <a:off x="4997450" y="1468736"/>
            <a:ext cx="2197100" cy="8382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Goal</a:t>
            </a:r>
          </a:p>
          <a:p>
            <a:pPr algn="ctr"/>
            <a:r>
              <a:rPr lang="en-US" dirty="0">
                <a:solidFill>
                  <a:schemeClr val="tx1"/>
                </a:solidFill>
              </a:rPr>
              <a:t>Find top-5 funding</a:t>
            </a:r>
          </a:p>
        </p:txBody>
      </p:sp>
      <p:sp>
        <p:nvSpPr>
          <p:cNvPr id="4" name="Rectangle 3">
            <a:extLst>
              <a:ext uri="{FF2B5EF4-FFF2-40B4-BE49-F238E27FC236}">
                <a16:creationId xmlns:a16="http://schemas.microsoft.com/office/drawing/2014/main" id="{463CFD4F-DED5-2DF4-B4AE-604301E8C779}"/>
              </a:ext>
            </a:extLst>
          </p:cNvPr>
          <p:cNvSpPr/>
          <p:nvPr/>
        </p:nvSpPr>
        <p:spPr>
          <a:xfrm>
            <a:off x="4997450" y="2618201"/>
            <a:ext cx="2197100" cy="482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Orchestrator</a:t>
            </a:r>
            <a:endParaRPr lang="en-US" dirty="0">
              <a:solidFill>
                <a:schemeClr val="tx1"/>
              </a:solidFill>
            </a:endParaRPr>
          </a:p>
        </p:txBody>
      </p:sp>
      <p:sp>
        <p:nvSpPr>
          <p:cNvPr id="6" name="Rectangle 5">
            <a:extLst>
              <a:ext uri="{FF2B5EF4-FFF2-40B4-BE49-F238E27FC236}">
                <a16:creationId xmlns:a16="http://schemas.microsoft.com/office/drawing/2014/main" id="{93C4F89B-7616-DA05-5E5C-024D38F8016A}"/>
              </a:ext>
            </a:extLst>
          </p:cNvPr>
          <p:cNvSpPr/>
          <p:nvPr/>
        </p:nvSpPr>
        <p:spPr>
          <a:xfrm>
            <a:off x="1352550" y="3524250"/>
            <a:ext cx="2197100" cy="482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Research Agent</a:t>
            </a:r>
            <a:endParaRPr lang="en-US" dirty="0">
              <a:solidFill>
                <a:schemeClr val="tx1"/>
              </a:solidFill>
            </a:endParaRPr>
          </a:p>
        </p:txBody>
      </p:sp>
      <p:sp>
        <p:nvSpPr>
          <p:cNvPr id="7" name="Rectangle 6">
            <a:extLst>
              <a:ext uri="{FF2B5EF4-FFF2-40B4-BE49-F238E27FC236}">
                <a16:creationId xmlns:a16="http://schemas.microsoft.com/office/drawing/2014/main" id="{44FD5DF1-3181-BDBE-E2B2-68A00E9DE1FF}"/>
              </a:ext>
            </a:extLst>
          </p:cNvPr>
          <p:cNvSpPr/>
          <p:nvPr/>
        </p:nvSpPr>
        <p:spPr>
          <a:xfrm>
            <a:off x="4997450" y="3524250"/>
            <a:ext cx="2197100" cy="482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Extraction Agent</a:t>
            </a:r>
            <a:endParaRPr lang="en-US" dirty="0">
              <a:solidFill>
                <a:schemeClr val="tx1"/>
              </a:solidFill>
            </a:endParaRPr>
          </a:p>
        </p:txBody>
      </p:sp>
      <p:sp>
        <p:nvSpPr>
          <p:cNvPr id="8" name="Rectangle 7">
            <a:extLst>
              <a:ext uri="{FF2B5EF4-FFF2-40B4-BE49-F238E27FC236}">
                <a16:creationId xmlns:a16="http://schemas.microsoft.com/office/drawing/2014/main" id="{5CEC4037-3029-6F14-E114-118AC8D29718}"/>
              </a:ext>
            </a:extLst>
          </p:cNvPr>
          <p:cNvSpPr/>
          <p:nvPr/>
        </p:nvSpPr>
        <p:spPr>
          <a:xfrm>
            <a:off x="9570357" y="3429000"/>
            <a:ext cx="2197100" cy="6731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Trend Analysis Agent</a:t>
            </a:r>
            <a:endParaRPr lang="en-US" dirty="0">
              <a:solidFill>
                <a:schemeClr val="tx1"/>
              </a:solidFill>
            </a:endParaRPr>
          </a:p>
        </p:txBody>
      </p:sp>
      <p:sp>
        <p:nvSpPr>
          <p:cNvPr id="9" name="Rectangle 8">
            <a:extLst>
              <a:ext uri="{FF2B5EF4-FFF2-40B4-BE49-F238E27FC236}">
                <a16:creationId xmlns:a16="http://schemas.microsoft.com/office/drawing/2014/main" id="{4A257BD6-610B-6360-3173-A8163D38E8E4}"/>
              </a:ext>
            </a:extLst>
          </p:cNvPr>
          <p:cNvSpPr/>
          <p:nvPr/>
        </p:nvSpPr>
        <p:spPr>
          <a:xfrm>
            <a:off x="9570357" y="4406900"/>
            <a:ext cx="2197100" cy="5842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Graph Builder Agent</a:t>
            </a:r>
            <a:endParaRPr lang="en-US" dirty="0">
              <a:solidFill>
                <a:schemeClr val="tx1"/>
              </a:solidFill>
            </a:endParaRPr>
          </a:p>
        </p:txBody>
      </p:sp>
      <p:sp>
        <p:nvSpPr>
          <p:cNvPr id="13" name="Rectangle 12">
            <a:extLst>
              <a:ext uri="{FF2B5EF4-FFF2-40B4-BE49-F238E27FC236}">
                <a16:creationId xmlns:a16="http://schemas.microsoft.com/office/drawing/2014/main" id="{E6D33926-2B29-B78D-37E5-CE680335761A}"/>
              </a:ext>
            </a:extLst>
          </p:cNvPr>
          <p:cNvSpPr/>
          <p:nvPr/>
        </p:nvSpPr>
        <p:spPr>
          <a:xfrm>
            <a:off x="9570357" y="5295900"/>
            <a:ext cx="2197100" cy="5842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Report Writer Agent</a:t>
            </a:r>
            <a:endParaRPr lang="en-US" dirty="0">
              <a:solidFill>
                <a:schemeClr val="tx1"/>
              </a:solidFill>
            </a:endParaRPr>
          </a:p>
        </p:txBody>
      </p:sp>
      <p:sp>
        <p:nvSpPr>
          <p:cNvPr id="14" name="Rectangle 13">
            <a:extLst>
              <a:ext uri="{FF2B5EF4-FFF2-40B4-BE49-F238E27FC236}">
                <a16:creationId xmlns:a16="http://schemas.microsoft.com/office/drawing/2014/main" id="{688C6FBA-44F0-A062-DAB3-480FBBEDE382}"/>
              </a:ext>
            </a:extLst>
          </p:cNvPr>
          <p:cNvSpPr/>
          <p:nvPr/>
        </p:nvSpPr>
        <p:spPr>
          <a:xfrm>
            <a:off x="9570357" y="6290734"/>
            <a:ext cx="2197100" cy="482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Report Agent</a:t>
            </a:r>
            <a:endParaRPr lang="en-US" dirty="0">
              <a:solidFill>
                <a:schemeClr val="tx1"/>
              </a:solidFill>
            </a:endParaRPr>
          </a:p>
        </p:txBody>
      </p:sp>
      <p:cxnSp>
        <p:nvCxnSpPr>
          <p:cNvPr id="16" name="Straight Arrow Connector 15">
            <a:extLst>
              <a:ext uri="{FF2B5EF4-FFF2-40B4-BE49-F238E27FC236}">
                <a16:creationId xmlns:a16="http://schemas.microsoft.com/office/drawing/2014/main" id="{D1960144-DEF1-ABC3-4907-B52DD270F934}"/>
              </a:ext>
            </a:extLst>
          </p:cNvPr>
          <p:cNvCxnSpPr>
            <a:stCxn id="3" idx="2"/>
            <a:endCxn id="4" idx="0"/>
          </p:cNvCxnSpPr>
          <p:nvPr/>
        </p:nvCxnSpPr>
        <p:spPr>
          <a:xfrm>
            <a:off x="6096000" y="2306936"/>
            <a:ext cx="0" cy="3112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6FEEED35-F0B3-1465-663E-D9376F3787A8}"/>
              </a:ext>
            </a:extLst>
          </p:cNvPr>
          <p:cNvCxnSpPr>
            <a:cxnSpLocks/>
            <a:stCxn id="4" idx="2"/>
            <a:endCxn id="7" idx="0"/>
          </p:cNvCxnSpPr>
          <p:nvPr/>
        </p:nvCxnSpPr>
        <p:spPr>
          <a:xfrm>
            <a:off x="6096000" y="3100801"/>
            <a:ext cx="0" cy="4234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5DD4C3CB-40FF-710E-4587-C743DBFFA85B}"/>
              </a:ext>
            </a:extLst>
          </p:cNvPr>
          <p:cNvCxnSpPr>
            <a:cxnSpLocks/>
            <a:stCxn id="6" idx="3"/>
            <a:endCxn id="7" idx="1"/>
          </p:cNvCxnSpPr>
          <p:nvPr/>
        </p:nvCxnSpPr>
        <p:spPr>
          <a:xfrm>
            <a:off x="3549650" y="3765550"/>
            <a:ext cx="14478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9E295C10-D9BF-6ACD-6302-714E4DFDC4AB}"/>
              </a:ext>
            </a:extLst>
          </p:cNvPr>
          <p:cNvCxnSpPr>
            <a:cxnSpLocks/>
            <a:stCxn id="7" idx="3"/>
            <a:endCxn id="8" idx="1"/>
          </p:cNvCxnSpPr>
          <p:nvPr/>
        </p:nvCxnSpPr>
        <p:spPr>
          <a:xfrm>
            <a:off x="7194550" y="3765550"/>
            <a:ext cx="2375807"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9FEA735E-FF36-D0B3-FA32-9DD7A928B7C8}"/>
              </a:ext>
            </a:extLst>
          </p:cNvPr>
          <p:cNvCxnSpPr>
            <a:cxnSpLocks/>
            <a:stCxn id="8" idx="2"/>
            <a:endCxn id="9" idx="0"/>
          </p:cNvCxnSpPr>
          <p:nvPr/>
        </p:nvCxnSpPr>
        <p:spPr>
          <a:xfrm>
            <a:off x="10668907" y="4102101"/>
            <a:ext cx="0" cy="3047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BA760B03-E470-B9AE-582B-D88078A0AC97}"/>
              </a:ext>
            </a:extLst>
          </p:cNvPr>
          <p:cNvCxnSpPr>
            <a:cxnSpLocks/>
            <a:stCxn id="9" idx="2"/>
            <a:endCxn id="13" idx="0"/>
          </p:cNvCxnSpPr>
          <p:nvPr/>
        </p:nvCxnSpPr>
        <p:spPr>
          <a:xfrm>
            <a:off x="10668907" y="4991101"/>
            <a:ext cx="0" cy="3047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DA6498A8-1A6E-0241-9F91-96A5C6E91001}"/>
              </a:ext>
            </a:extLst>
          </p:cNvPr>
          <p:cNvCxnSpPr>
            <a:cxnSpLocks/>
            <a:stCxn id="13" idx="2"/>
            <a:endCxn id="14" idx="0"/>
          </p:cNvCxnSpPr>
          <p:nvPr/>
        </p:nvCxnSpPr>
        <p:spPr>
          <a:xfrm>
            <a:off x="10668907" y="5880101"/>
            <a:ext cx="0" cy="4106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Elbow Connector 36">
            <a:extLst>
              <a:ext uri="{FF2B5EF4-FFF2-40B4-BE49-F238E27FC236}">
                <a16:creationId xmlns:a16="http://schemas.microsoft.com/office/drawing/2014/main" id="{46FA71A8-A49F-7F01-F82E-139C212DFBBD}"/>
              </a:ext>
            </a:extLst>
          </p:cNvPr>
          <p:cNvCxnSpPr>
            <a:cxnSpLocks/>
            <a:stCxn id="4" idx="1"/>
            <a:endCxn id="6" idx="0"/>
          </p:cNvCxnSpPr>
          <p:nvPr/>
        </p:nvCxnSpPr>
        <p:spPr>
          <a:xfrm rot="10800000" flipV="1">
            <a:off x="2451100" y="2859500"/>
            <a:ext cx="2546350" cy="664749"/>
          </a:xfrm>
          <a:prstGeom prst="bentConnector2">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1" name="Elbow Connector 40">
            <a:extLst>
              <a:ext uri="{FF2B5EF4-FFF2-40B4-BE49-F238E27FC236}">
                <a16:creationId xmlns:a16="http://schemas.microsoft.com/office/drawing/2014/main" id="{1F11BEF6-1D61-617A-EA4B-F883FA9FDBEF}"/>
              </a:ext>
            </a:extLst>
          </p:cNvPr>
          <p:cNvCxnSpPr>
            <a:cxnSpLocks/>
            <a:stCxn id="4" idx="3"/>
            <a:endCxn id="8" idx="0"/>
          </p:cNvCxnSpPr>
          <p:nvPr/>
        </p:nvCxnSpPr>
        <p:spPr>
          <a:xfrm>
            <a:off x="7194550" y="2859501"/>
            <a:ext cx="3474357" cy="569499"/>
          </a:xfrm>
          <a:prstGeom prst="bentConnector2">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4" name="Elbow Connector 43">
            <a:extLst>
              <a:ext uri="{FF2B5EF4-FFF2-40B4-BE49-F238E27FC236}">
                <a16:creationId xmlns:a16="http://schemas.microsoft.com/office/drawing/2014/main" id="{72ED7E77-A263-BE21-0FCA-A37D0D4E12FD}"/>
              </a:ext>
            </a:extLst>
          </p:cNvPr>
          <p:cNvCxnSpPr>
            <a:cxnSpLocks/>
            <a:stCxn id="4" idx="3"/>
            <a:endCxn id="9" idx="1"/>
          </p:cNvCxnSpPr>
          <p:nvPr/>
        </p:nvCxnSpPr>
        <p:spPr>
          <a:xfrm>
            <a:off x="7194550" y="2859501"/>
            <a:ext cx="2375807" cy="1839500"/>
          </a:xfrm>
          <a:prstGeom prst="bentConnector3">
            <a:avLst>
              <a:gd name="adj1" fmla="val 50000"/>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7" name="Elbow Connector 46">
            <a:extLst>
              <a:ext uri="{FF2B5EF4-FFF2-40B4-BE49-F238E27FC236}">
                <a16:creationId xmlns:a16="http://schemas.microsoft.com/office/drawing/2014/main" id="{8D2ACDDB-A4CA-EDFA-4076-F412A973E51D}"/>
              </a:ext>
            </a:extLst>
          </p:cNvPr>
          <p:cNvCxnSpPr>
            <a:cxnSpLocks/>
            <a:stCxn id="4" idx="3"/>
            <a:endCxn id="13" idx="1"/>
          </p:cNvCxnSpPr>
          <p:nvPr/>
        </p:nvCxnSpPr>
        <p:spPr>
          <a:xfrm>
            <a:off x="7194550" y="2859501"/>
            <a:ext cx="2375807" cy="2728500"/>
          </a:xfrm>
          <a:prstGeom prst="bentConnector3">
            <a:avLst>
              <a:gd name="adj1" fmla="val 50000"/>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50" name="Elbow Connector 49">
            <a:extLst>
              <a:ext uri="{FF2B5EF4-FFF2-40B4-BE49-F238E27FC236}">
                <a16:creationId xmlns:a16="http://schemas.microsoft.com/office/drawing/2014/main" id="{B3AC98D2-2136-A65D-C667-FE69A369012D}"/>
              </a:ext>
            </a:extLst>
          </p:cNvPr>
          <p:cNvCxnSpPr>
            <a:cxnSpLocks/>
            <a:stCxn id="4" idx="3"/>
            <a:endCxn id="14" idx="1"/>
          </p:cNvCxnSpPr>
          <p:nvPr/>
        </p:nvCxnSpPr>
        <p:spPr>
          <a:xfrm>
            <a:off x="7194550" y="2859501"/>
            <a:ext cx="2375807" cy="3672533"/>
          </a:xfrm>
          <a:prstGeom prst="bentConnector3">
            <a:avLst>
              <a:gd name="adj1" fmla="val 50000"/>
            </a:avLst>
          </a:prstGeom>
          <a:ln>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8282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4709D6-284A-C28C-78D9-54F658E8F4F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07FD48E-9C16-8F04-CE44-D474C3123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1BF03579-2B0C-C285-AAE0-211BD449C420}"/>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algn="ctr">
              <a:buNone/>
            </a:pPr>
            <a:r>
              <a:rPr lang="en-IN" sz="2800" b="1" dirty="0">
                <a:solidFill>
                  <a:schemeClr val="bg1"/>
                </a:solidFill>
              </a:rPr>
              <a:t>⚙️ How Does Agentic AI Work?</a:t>
            </a:r>
          </a:p>
        </p:txBody>
      </p:sp>
      <p:sp>
        <p:nvSpPr>
          <p:cNvPr id="3" name="TextBox 2">
            <a:extLst>
              <a:ext uri="{FF2B5EF4-FFF2-40B4-BE49-F238E27FC236}">
                <a16:creationId xmlns:a16="http://schemas.microsoft.com/office/drawing/2014/main" id="{C4574663-06B2-5FE0-24CB-D04CD089C3C1}"/>
              </a:ext>
            </a:extLst>
          </p:cNvPr>
          <p:cNvSpPr txBox="1"/>
          <p:nvPr/>
        </p:nvSpPr>
        <p:spPr>
          <a:xfrm>
            <a:off x="697831" y="2081787"/>
            <a:ext cx="11069625" cy="3742948"/>
          </a:xfrm>
          <a:prstGeom prst="rect">
            <a:avLst/>
          </a:prstGeom>
          <a:noFill/>
        </p:spPr>
        <p:txBody>
          <a:bodyPr wrap="square">
            <a:spAutoFit/>
          </a:bodyPr>
          <a:lstStyle/>
          <a:p>
            <a:pPr>
              <a:lnSpc>
                <a:spcPct val="150000"/>
              </a:lnSpc>
              <a:buNone/>
            </a:pPr>
            <a:r>
              <a:rPr lang="en-IN" sz="2000" dirty="0"/>
              <a:t>A typical </a:t>
            </a:r>
            <a:r>
              <a:rPr lang="en-IN" sz="2000" b="1" dirty="0"/>
              <a:t>agentic system</a:t>
            </a:r>
            <a:r>
              <a:rPr lang="en-IN" sz="2000" dirty="0"/>
              <a:t> includes:</a:t>
            </a:r>
          </a:p>
          <a:p>
            <a:pPr marL="800100" lvl="1" indent="-342900">
              <a:lnSpc>
                <a:spcPct val="150000"/>
              </a:lnSpc>
              <a:buFont typeface="+mj-lt"/>
              <a:buAutoNum type="arabicPeriod"/>
            </a:pPr>
            <a:r>
              <a:rPr lang="en-IN" sz="2000" b="1" dirty="0"/>
              <a:t>LLM (e.g., GPT/</a:t>
            </a:r>
            <a:r>
              <a:rPr lang="en-IN" sz="2000" b="1" dirty="0" err="1"/>
              <a:t>Ollama</a:t>
            </a:r>
            <a:r>
              <a:rPr lang="en-IN" sz="2000" b="1" dirty="0"/>
              <a:t>)</a:t>
            </a:r>
            <a:r>
              <a:rPr lang="en-IN" sz="2000" dirty="0"/>
              <a:t> – central reasoning brain.</a:t>
            </a:r>
          </a:p>
          <a:p>
            <a:pPr marL="800100" lvl="1" indent="-342900">
              <a:lnSpc>
                <a:spcPct val="150000"/>
              </a:lnSpc>
              <a:buFont typeface="+mj-lt"/>
              <a:buAutoNum type="arabicPeriod"/>
            </a:pPr>
            <a:r>
              <a:rPr lang="en-IN" sz="2000" b="1" dirty="0"/>
              <a:t>Embeddings</a:t>
            </a:r>
            <a:r>
              <a:rPr lang="en-IN" sz="2000" dirty="0"/>
              <a:t> – for semantic understanding of documents (vector search).</a:t>
            </a:r>
          </a:p>
          <a:p>
            <a:pPr marL="800100" lvl="1" indent="-342900">
              <a:lnSpc>
                <a:spcPct val="150000"/>
              </a:lnSpc>
              <a:buFont typeface="+mj-lt"/>
              <a:buAutoNum type="arabicPeriod"/>
            </a:pPr>
            <a:r>
              <a:rPr lang="en-IN" sz="2000" b="1" dirty="0"/>
              <a:t>Memory</a:t>
            </a:r>
            <a:r>
              <a:rPr lang="en-IN" sz="2000" dirty="0"/>
              <a:t> – stores past interactions, facts, state.</a:t>
            </a:r>
          </a:p>
          <a:p>
            <a:pPr marL="800100" lvl="1" indent="-342900">
              <a:lnSpc>
                <a:spcPct val="150000"/>
              </a:lnSpc>
              <a:buFont typeface="+mj-lt"/>
              <a:buAutoNum type="arabicPeriod"/>
            </a:pPr>
            <a:r>
              <a:rPr lang="en-IN" sz="2000" b="1" dirty="0"/>
              <a:t>Tools/Functions/APIs</a:t>
            </a:r>
            <a:r>
              <a:rPr lang="en-IN" sz="2000" dirty="0"/>
              <a:t> – agents can call APIs, run code, or access documents.</a:t>
            </a:r>
          </a:p>
          <a:p>
            <a:pPr marL="800100" lvl="1" indent="-342900">
              <a:lnSpc>
                <a:spcPct val="150000"/>
              </a:lnSpc>
              <a:buFont typeface="+mj-lt"/>
              <a:buAutoNum type="arabicPeriod"/>
            </a:pPr>
            <a:r>
              <a:rPr lang="en-IN" sz="2000" b="1" dirty="0"/>
              <a:t>Orchestration (e.g., </a:t>
            </a:r>
            <a:r>
              <a:rPr lang="en-IN" sz="2000" b="1" dirty="0" err="1"/>
              <a:t>LangChain</a:t>
            </a:r>
            <a:r>
              <a:rPr lang="en-IN" sz="2000" b="1" dirty="0"/>
              <a:t>, </a:t>
            </a:r>
            <a:r>
              <a:rPr lang="en-IN" sz="2000" b="1" dirty="0" err="1"/>
              <a:t>LangGraph</a:t>
            </a:r>
            <a:r>
              <a:rPr lang="en-IN" sz="2000" b="1" dirty="0"/>
              <a:t>)</a:t>
            </a:r>
            <a:r>
              <a:rPr lang="en-IN" sz="2000" dirty="0"/>
              <a:t> – manages control flow like loops, retries, conditionals.</a:t>
            </a:r>
          </a:p>
          <a:p>
            <a:pPr>
              <a:lnSpc>
                <a:spcPct val="150000"/>
              </a:lnSpc>
            </a:pPr>
            <a:r>
              <a:rPr lang="en-IN" sz="2000" dirty="0"/>
              <a:t>🎯 </a:t>
            </a:r>
            <a:r>
              <a:rPr lang="en-IN" sz="2000" b="1" dirty="0"/>
              <a:t>Goal is defined</a:t>
            </a:r>
            <a:r>
              <a:rPr lang="en-IN" sz="2000" dirty="0"/>
              <a:t>, and the agent decides </a:t>
            </a:r>
            <a:r>
              <a:rPr lang="en-IN" sz="2000" i="1" dirty="0"/>
              <a:t>how</a:t>
            </a:r>
            <a:r>
              <a:rPr lang="en-IN" sz="2000" dirty="0"/>
              <a:t> to achieve it step by step.</a:t>
            </a:r>
          </a:p>
        </p:txBody>
      </p:sp>
    </p:spTree>
    <p:extLst>
      <p:ext uri="{BB962C8B-B14F-4D97-AF65-F5344CB8AC3E}">
        <p14:creationId xmlns:p14="http://schemas.microsoft.com/office/powerpoint/2010/main" val="2567909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
            <a:extLst>
              <a:ext uri="{FF2B5EF4-FFF2-40B4-BE49-F238E27FC236}">
                <a16:creationId xmlns:a16="http://schemas.microsoft.com/office/drawing/2014/main" id="{6BCD53C7-A2C7-6B9B-FC37-A241A8DCD61F}"/>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marL="0" marR="0" lvl="0" indent="0" algn="ctr" fontAlgn="base">
              <a:lnSpc>
                <a:spcPct val="90000"/>
              </a:lnSpc>
              <a:spcBef>
                <a:spcPct val="0"/>
              </a:spcBef>
              <a:spcAft>
                <a:spcPts val="600"/>
              </a:spcAft>
              <a:buClrTx/>
              <a:buSzTx/>
              <a:tabLst/>
            </a:pPr>
            <a:endParaRPr kumimoji="0" lang="en-US" altLang="en-US" sz="2800" b="1" i="0" u="none" strike="noStrike" kern="1200" cap="none" normalizeH="0" baseline="0" dirty="0">
              <a:ln>
                <a:noFill/>
              </a:ln>
              <a:solidFill>
                <a:schemeClr val="bg1"/>
              </a:solidFill>
              <a:effectLst/>
              <a:latin typeface="+mj-lt"/>
              <a:ea typeface="+mj-ea"/>
              <a:cs typeface="+mj-cs"/>
            </a:endParaRPr>
          </a:p>
          <a:p>
            <a:pPr marL="0" marR="0" lvl="0" indent="0" algn="ctr" fontAlgn="base">
              <a:lnSpc>
                <a:spcPct val="90000"/>
              </a:lnSpc>
              <a:spcBef>
                <a:spcPct val="0"/>
              </a:spcBef>
              <a:spcAft>
                <a:spcPts val="600"/>
              </a:spcAft>
              <a:buClrTx/>
              <a:buSzTx/>
              <a:tabLst/>
            </a:pPr>
            <a:r>
              <a:rPr kumimoji="0" lang="en-US" altLang="en-US" sz="2800" b="1" i="0" u="none" strike="noStrike" kern="1200" cap="none" normalizeH="0" baseline="0" dirty="0">
                <a:ln>
                  <a:noFill/>
                </a:ln>
                <a:solidFill>
                  <a:schemeClr val="bg1"/>
                </a:solidFill>
                <a:effectLst/>
                <a:latin typeface="+mj-lt"/>
                <a:ea typeface="+mj-ea"/>
                <a:cs typeface="+mj-cs"/>
              </a:rPr>
              <a:t>🧠 What Problems Does Agentic AI Solve?</a:t>
            </a:r>
          </a:p>
          <a:p>
            <a:pPr marL="0" marR="0" lvl="0" indent="0" algn="ctr" fontAlgn="base">
              <a:lnSpc>
                <a:spcPct val="90000"/>
              </a:lnSpc>
              <a:spcBef>
                <a:spcPct val="0"/>
              </a:spcBef>
              <a:spcAft>
                <a:spcPts val="600"/>
              </a:spcAft>
              <a:buClrTx/>
              <a:buSzTx/>
              <a:tabLst/>
            </a:pPr>
            <a:endParaRPr kumimoji="0" lang="en-US" altLang="en-US" sz="2800" b="0" i="0" u="none" strike="noStrike" kern="1200" cap="none" normalizeH="0" baseline="0" dirty="0">
              <a:ln>
                <a:noFill/>
              </a:ln>
              <a:solidFill>
                <a:schemeClr val="bg1"/>
              </a:solidFill>
              <a:effectLst/>
              <a:latin typeface="+mj-lt"/>
              <a:ea typeface="+mj-ea"/>
              <a:cs typeface="+mj-cs"/>
            </a:endParaRPr>
          </a:p>
        </p:txBody>
      </p:sp>
      <p:graphicFrame>
        <p:nvGraphicFramePr>
          <p:cNvPr id="6" name="Table 5">
            <a:extLst>
              <a:ext uri="{FF2B5EF4-FFF2-40B4-BE49-F238E27FC236}">
                <a16:creationId xmlns:a16="http://schemas.microsoft.com/office/drawing/2014/main" id="{FDF82486-949B-97EF-538D-D5D81E2A1621}"/>
              </a:ext>
            </a:extLst>
          </p:cNvPr>
          <p:cNvGraphicFramePr>
            <a:graphicFrameLocks noGrp="1"/>
          </p:cNvGraphicFramePr>
          <p:nvPr>
            <p:extLst>
              <p:ext uri="{D42A27DB-BD31-4B8C-83A1-F6EECF244321}">
                <p14:modId xmlns:p14="http://schemas.microsoft.com/office/powerpoint/2010/main" val="2056729052"/>
              </p:ext>
            </p:extLst>
          </p:nvPr>
        </p:nvGraphicFramePr>
        <p:xfrm>
          <a:off x="777368" y="1675227"/>
          <a:ext cx="10637265" cy="4394202"/>
        </p:xfrm>
        <a:graphic>
          <a:graphicData uri="http://schemas.openxmlformats.org/drawingml/2006/table">
            <a:tbl>
              <a:tblPr/>
              <a:tblGrid>
                <a:gridCol w="5130156">
                  <a:extLst>
                    <a:ext uri="{9D8B030D-6E8A-4147-A177-3AD203B41FA5}">
                      <a16:colId xmlns:a16="http://schemas.microsoft.com/office/drawing/2014/main" val="986385171"/>
                    </a:ext>
                  </a:extLst>
                </a:gridCol>
                <a:gridCol w="5507109">
                  <a:extLst>
                    <a:ext uri="{9D8B030D-6E8A-4147-A177-3AD203B41FA5}">
                      <a16:colId xmlns:a16="http://schemas.microsoft.com/office/drawing/2014/main" val="617493655"/>
                    </a:ext>
                  </a:extLst>
                </a:gridCol>
              </a:tblGrid>
              <a:tr h="568662">
                <a:tc>
                  <a:txBody>
                    <a:bodyPr/>
                    <a:lstStyle/>
                    <a:p>
                      <a:r>
                        <a:rPr lang="en-IN" sz="2500" b="1" dirty="0"/>
                        <a:t>Problem</a:t>
                      </a:r>
                    </a:p>
                  </a:txBody>
                  <a:tcPr marL="129241" marR="129241" marT="64621" marB="64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500" b="1" dirty="0"/>
                        <a:t>How Agentic AI Helps</a:t>
                      </a:r>
                    </a:p>
                  </a:txBody>
                  <a:tcPr marL="129241" marR="129241" marT="64621" marB="64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8605127"/>
                  </a:ext>
                </a:extLst>
              </a:tr>
              <a:tr h="956385">
                <a:tc>
                  <a:txBody>
                    <a:bodyPr/>
                    <a:lstStyle/>
                    <a:p>
                      <a:r>
                        <a:rPr lang="en-IN" sz="2500" dirty="0"/>
                        <a:t>Simple LLMs forget context</a:t>
                      </a:r>
                    </a:p>
                  </a:txBody>
                  <a:tcPr marL="129241" marR="129241" marT="64621" marB="64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500"/>
                        <a:t>Agents use memory to persist knowledge</a:t>
                      </a:r>
                    </a:p>
                  </a:txBody>
                  <a:tcPr marL="129241" marR="129241" marT="64621" marB="64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4546498"/>
                  </a:ext>
                </a:extLst>
              </a:tr>
              <a:tr h="956385">
                <a:tc>
                  <a:txBody>
                    <a:bodyPr/>
                    <a:lstStyle/>
                    <a:p>
                      <a:r>
                        <a:rPr lang="en-IN" sz="2500"/>
                        <a:t>Single prompts can’t handle complex tasks</a:t>
                      </a:r>
                    </a:p>
                  </a:txBody>
                  <a:tcPr marL="129241" marR="129241" marT="64621" marB="64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500"/>
                        <a:t>Agents plan and decompose tasks</a:t>
                      </a:r>
                    </a:p>
                  </a:txBody>
                  <a:tcPr marL="129241" marR="129241" marT="64621" marB="64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3269499"/>
                  </a:ext>
                </a:extLst>
              </a:tr>
              <a:tr h="956385">
                <a:tc>
                  <a:txBody>
                    <a:bodyPr/>
                    <a:lstStyle/>
                    <a:p>
                      <a:r>
                        <a:rPr lang="en-IN" sz="2500"/>
                        <a:t>LLMs can’t use external systems</a:t>
                      </a:r>
                    </a:p>
                  </a:txBody>
                  <a:tcPr marL="129241" marR="129241" marT="64621" marB="64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500"/>
                        <a:t>Agents invoke tools, APIs, databases</a:t>
                      </a:r>
                    </a:p>
                  </a:txBody>
                  <a:tcPr marL="129241" marR="129241" marT="64621" marB="64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0726778"/>
                  </a:ext>
                </a:extLst>
              </a:tr>
              <a:tr h="956385">
                <a:tc>
                  <a:txBody>
                    <a:bodyPr/>
                    <a:lstStyle/>
                    <a:p>
                      <a:r>
                        <a:rPr lang="en-IN" sz="2500"/>
                        <a:t>Manual integration is hard</a:t>
                      </a:r>
                    </a:p>
                  </a:txBody>
                  <a:tcPr marL="129241" marR="129241" marT="64621" marB="64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500" dirty="0"/>
                        <a:t>Agentic frameworks like </a:t>
                      </a:r>
                      <a:r>
                        <a:rPr lang="en-IN" sz="2500" dirty="0" err="1"/>
                        <a:t>LangChain</a:t>
                      </a:r>
                      <a:r>
                        <a:rPr lang="en-IN" sz="2500" dirty="0"/>
                        <a:t> simplify tool orchestration</a:t>
                      </a:r>
                    </a:p>
                  </a:txBody>
                  <a:tcPr marL="129241" marR="129241" marT="64621" marB="64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096028"/>
                  </a:ext>
                </a:extLst>
              </a:tr>
            </a:tbl>
          </a:graphicData>
        </a:graphic>
      </p:graphicFrame>
    </p:spTree>
    <p:extLst>
      <p:ext uri="{BB962C8B-B14F-4D97-AF65-F5344CB8AC3E}">
        <p14:creationId xmlns:p14="http://schemas.microsoft.com/office/powerpoint/2010/main" val="3169405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34E08D-60F9-F4DF-12F8-B16C6BFE1CB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2B8F883-659F-7543-1F54-514B46A316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A139D5BA-A6AC-1D68-DE7B-BB13CDD6E06A}"/>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algn="ctr"/>
            <a:r>
              <a:rPr lang="en-IN" sz="2800" b="1" dirty="0">
                <a:solidFill>
                  <a:schemeClr val="bg1"/>
                </a:solidFill>
              </a:rPr>
              <a:t>🚧 Challenges Without Agentic AI</a:t>
            </a:r>
          </a:p>
        </p:txBody>
      </p:sp>
      <p:sp>
        <p:nvSpPr>
          <p:cNvPr id="3" name="TextBox 2">
            <a:extLst>
              <a:ext uri="{FF2B5EF4-FFF2-40B4-BE49-F238E27FC236}">
                <a16:creationId xmlns:a16="http://schemas.microsoft.com/office/drawing/2014/main" id="{21AA1676-7D33-0661-4C63-630ABBB64AE0}"/>
              </a:ext>
            </a:extLst>
          </p:cNvPr>
          <p:cNvSpPr txBox="1"/>
          <p:nvPr/>
        </p:nvSpPr>
        <p:spPr>
          <a:xfrm>
            <a:off x="697831" y="2081787"/>
            <a:ext cx="11069625" cy="2809039"/>
          </a:xfrm>
          <a:prstGeom prst="rect">
            <a:avLst/>
          </a:prstGeom>
          <a:noFill/>
        </p:spPr>
        <p:txBody>
          <a:bodyPr wrap="square">
            <a:spAutoFit/>
          </a:bodyPr>
          <a:lstStyle/>
          <a:p>
            <a:pPr>
              <a:lnSpc>
                <a:spcPct val="150000"/>
              </a:lnSpc>
              <a:buNone/>
            </a:pPr>
            <a:r>
              <a:rPr lang="en-IN" sz="2400" dirty="0"/>
              <a:t>Without agentic design, LLM systems face:</a:t>
            </a:r>
          </a:p>
          <a:p>
            <a:pPr marL="342900" indent="-342900">
              <a:lnSpc>
                <a:spcPct val="150000"/>
              </a:lnSpc>
              <a:buFont typeface="Arial" panose="020B0604020202020204" pitchFamily="34" charset="0"/>
              <a:buChar char="•"/>
            </a:pPr>
            <a:r>
              <a:rPr lang="en-IN" sz="2400" b="1" dirty="0"/>
              <a:t>Shallow interactions</a:t>
            </a:r>
            <a:r>
              <a:rPr lang="en-IN" sz="2400" dirty="0"/>
              <a:t> – every query is stateless.</a:t>
            </a:r>
          </a:p>
          <a:p>
            <a:pPr marL="342900" indent="-342900">
              <a:lnSpc>
                <a:spcPct val="150000"/>
              </a:lnSpc>
              <a:buFont typeface="Arial" panose="020B0604020202020204" pitchFamily="34" charset="0"/>
              <a:buChar char="•"/>
            </a:pPr>
            <a:r>
              <a:rPr lang="en-IN" sz="2400" b="1" dirty="0"/>
              <a:t>Manual chaining</a:t>
            </a:r>
            <a:r>
              <a:rPr lang="en-IN" sz="2400" dirty="0"/>
              <a:t> – developers hard-code every step.</a:t>
            </a:r>
          </a:p>
          <a:p>
            <a:pPr marL="342900" indent="-342900">
              <a:lnSpc>
                <a:spcPct val="150000"/>
              </a:lnSpc>
              <a:buFont typeface="Arial" panose="020B0604020202020204" pitchFamily="34" charset="0"/>
              <a:buChar char="•"/>
            </a:pPr>
            <a:r>
              <a:rPr lang="en-IN" sz="2400" b="1" dirty="0"/>
              <a:t>No adaptability</a:t>
            </a:r>
            <a:r>
              <a:rPr lang="en-IN" sz="2400" dirty="0"/>
              <a:t> – can't react to dynamic inputs or unexpected API results.</a:t>
            </a:r>
          </a:p>
          <a:p>
            <a:pPr marL="342900" indent="-342900">
              <a:lnSpc>
                <a:spcPct val="150000"/>
              </a:lnSpc>
              <a:buFont typeface="Arial" panose="020B0604020202020204" pitchFamily="34" charset="0"/>
              <a:buChar char="•"/>
            </a:pPr>
            <a:r>
              <a:rPr lang="en-IN" sz="2400" b="1" dirty="0"/>
              <a:t>Limited utility</a:t>
            </a:r>
            <a:r>
              <a:rPr lang="en-IN" sz="2400" dirty="0"/>
              <a:t> – can’t automate real workflows or make decisions.</a:t>
            </a:r>
          </a:p>
        </p:txBody>
      </p:sp>
    </p:spTree>
    <p:extLst>
      <p:ext uri="{BB962C8B-B14F-4D97-AF65-F5344CB8AC3E}">
        <p14:creationId xmlns:p14="http://schemas.microsoft.com/office/powerpoint/2010/main" val="2206844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7EF833B5-9C82-3DDF-C82F-95F439667D74}"/>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marL="0" marR="0" lvl="0" indent="0" algn="ctr" fontAlgn="base">
              <a:lnSpc>
                <a:spcPct val="90000"/>
              </a:lnSpc>
              <a:spcBef>
                <a:spcPct val="0"/>
              </a:spcBef>
              <a:spcAft>
                <a:spcPts val="600"/>
              </a:spcAft>
              <a:buClrTx/>
              <a:buSzTx/>
              <a:tabLst/>
            </a:pPr>
            <a:endParaRPr kumimoji="0" lang="en-US" altLang="en-US" sz="2800" b="1" i="0" u="none" strike="noStrike" kern="1200" cap="none" normalizeH="0" baseline="0" dirty="0">
              <a:ln>
                <a:noFill/>
              </a:ln>
              <a:solidFill>
                <a:schemeClr val="bg1"/>
              </a:solidFill>
              <a:effectLst/>
              <a:latin typeface="+mj-lt"/>
              <a:ea typeface="+mj-ea"/>
              <a:cs typeface="+mj-cs"/>
            </a:endParaRPr>
          </a:p>
          <a:p>
            <a:pPr marL="0" marR="0" lvl="0" indent="0" algn="ctr" fontAlgn="base">
              <a:lnSpc>
                <a:spcPct val="90000"/>
              </a:lnSpc>
              <a:spcBef>
                <a:spcPct val="0"/>
              </a:spcBef>
              <a:spcAft>
                <a:spcPts val="600"/>
              </a:spcAft>
              <a:buClrTx/>
              <a:buSzTx/>
              <a:tabLst/>
            </a:pPr>
            <a:r>
              <a:rPr kumimoji="0" lang="en-US" altLang="en-US" sz="2800" b="1" i="0" u="none" strike="noStrike" kern="1200" cap="none" normalizeH="0" baseline="0" dirty="0">
                <a:ln>
                  <a:noFill/>
                </a:ln>
                <a:solidFill>
                  <a:schemeClr val="bg1"/>
                </a:solidFill>
                <a:effectLst/>
                <a:latin typeface="+mj-lt"/>
                <a:ea typeface="+mj-ea"/>
                <a:cs typeface="+mj-cs"/>
              </a:rPr>
              <a:t>🚀 Starter Tools in the Series</a:t>
            </a:r>
          </a:p>
          <a:p>
            <a:pPr marL="0" marR="0" lvl="0" indent="0" algn="ctr" fontAlgn="base">
              <a:lnSpc>
                <a:spcPct val="90000"/>
              </a:lnSpc>
              <a:spcBef>
                <a:spcPct val="0"/>
              </a:spcBef>
              <a:spcAft>
                <a:spcPts val="600"/>
              </a:spcAft>
              <a:buClrTx/>
              <a:buSzTx/>
              <a:tabLst/>
            </a:pPr>
            <a:endParaRPr kumimoji="0" lang="en-US" altLang="en-US" sz="2800" b="0" i="0" u="none" strike="noStrike" kern="1200" cap="none" normalizeH="0" baseline="0" dirty="0">
              <a:ln>
                <a:noFill/>
              </a:ln>
              <a:solidFill>
                <a:schemeClr val="bg1"/>
              </a:solidFill>
              <a:effectLst/>
              <a:latin typeface="+mj-lt"/>
              <a:ea typeface="+mj-ea"/>
              <a:cs typeface="+mj-cs"/>
            </a:endParaRPr>
          </a:p>
        </p:txBody>
      </p:sp>
      <p:graphicFrame>
        <p:nvGraphicFramePr>
          <p:cNvPr id="4" name="Table 3">
            <a:extLst>
              <a:ext uri="{FF2B5EF4-FFF2-40B4-BE49-F238E27FC236}">
                <a16:creationId xmlns:a16="http://schemas.microsoft.com/office/drawing/2014/main" id="{F577E32C-E2A7-7EDE-7219-5D7B764FA2F6}"/>
              </a:ext>
            </a:extLst>
          </p:cNvPr>
          <p:cNvGraphicFramePr>
            <a:graphicFrameLocks noGrp="1"/>
          </p:cNvGraphicFramePr>
          <p:nvPr>
            <p:extLst>
              <p:ext uri="{D42A27DB-BD31-4B8C-83A1-F6EECF244321}">
                <p14:modId xmlns:p14="http://schemas.microsoft.com/office/powerpoint/2010/main" val="1268705804"/>
              </p:ext>
            </p:extLst>
          </p:nvPr>
        </p:nvGraphicFramePr>
        <p:xfrm>
          <a:off x="1296613" y="1497427"/>
          <a:ext cx="9598774" cy="5126569"/>
        </p:xfrm>
        <a:graphic>
          <a:graphicData uri="http://schemas.openxmlformats.org/drawingml/2006/table">
            <a:tbl>
              <a:tblPr>
                <a:solidFill>
                  <a:schemeClr val="bg1"/>
                </a:solidFill>
              </a:tblPr>
              <a:tblGrid>
                <a:gridCol w="2602287">
                  <a:extLst>
                    <a:ext uri="{9D8B030D-6E8A-4147-A177-3AD203B41FA5}">
                      <a16:colId xmlns:a16="http://schemas.microsoft.com/office/drawing/2014/main" val="1566758912"/>
                    </a:ext>
                  </a:extLst>
                </a:gridCol>
                <a:gridCol w="6996487">
                  <a:extLst>
                    <a:ext uri="{9D8B030D-6E8A-4147-A177-3AD203B41FA5}">
                      <a16:colId xmlns:a16="http://schemas.microsoft.com/office/drawing/2014/main" val="887754208"/>
                    </a:ext>
                  </a:extLst>
                </a:gridCol>
              </a:tblGrid>
              <a:tr h="732367">
                <a:tc>
                  <a:txBody>
                    <a:bodyPr/>
                    <a:lstStyle/>
                    <a:p>
                      <a:r>
                        <a:rPr lang="en-IN" sz="1600" b="1" cap="none" spc="0">
                          <a:solidFill>
                            <a:schemeClr val="tx1"/>
                          </a:solidFill>
                        </a:rPr>
                        <a:t>Tool</a:t>
                      </a:r>
                    </a:p>
                  </a:txBody>
                  <a:tcPr marL="201143" marR="154725" marT="154725" marB="154725"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r>
                        <a:rPr lang="en-IN" sz="1600" b="1" cap="none" spc="0" dirty="0">
                          <a:solidFill>
                            <a:schemeClr val="tx1"/>
                          </a:solidFill>
                        </a:rPr>
                        <a:t>Purpose</a:t>
                      </a:r>
                    </a:p>
                  </a:txBody>
                  <a:tcPr marL="201143" marR="154725" marT="154725" marB="154725"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841205657"/>
                  </a:ext>
                </a:extLst>
              </a:tr>
              <a:tr h="732367">
                <a:tc>
                  <a:txBody>
                    <a:bodyPr/>
                    <a:lstStyle/>
                    <a:p>
                      <a:r>
                        <a:rPr lang="en-IN" sz="1600" b="1" cap="none" spc="0">
                          <a:solidFill>
                            <a:schemeClr val="tx1"/>
                          </a:solidFill>
                        </a:rPr>
                        <a:t>LangChain</a:t>
                      </a:r>
                      <a:endParaRPr lang="en-IN" sz="1600" cap="none" spc="0">
                        <a:solidFill>
                          <a:schemeClr val="tx1"/>
                        </a:solidFill>
                      </a:endParaRPr>
                    </a:p>
                  </a:txBody>
                  <a:tcPr marL="201143" marR="154725" marT="154725" marB="154725"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IN" sz="1600" dirty="0"/>
                        <a:t>Framework for building applications using </a:t>
                      </a:r>
                      <a:r>
                        <a:rPr lang="en-IN" sz="1600" b="1" dirty="0"/>
                        <a:t>language models</a:t>
                      </a:r>
                      <a:r>
                        <a:rPr lang="en-IN" sz="1600" dirty="0"/>
                        <a:t>.</a:t>
                      </a:r>
                      <a:endParaRPr lang="en-IN" sz="1600" cap="none" spc="0" dirty="0">
                        <a:solidFill>
                          <a:schemeClr val="tx1"/>
                        </a:solidFill>
                      </a:endParaRPr>
                    </a:p>
                  </a:txBody>
                  <a:tcPr marL="201143" marR="154725" marT="154725" marB="154725"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63743780"/>
                  </a:ext>
                </a:extLst>
              </a:tr>
              <a:tr h="732367">
                <a:tc>
                  <a:txBody>
                    <a:bodyPr/>
                    <a:lstStyle/>
                    <a:p>
                      <a:r>
                        <a:rPr lang="en-IN" sz="1600" b="1" cap="none" spc="0">
                          <a:solidFill>
                            <a:schemeClr val="tx1"/>
                          </a:solidFill>
                        </a:rPr>
                        <a:t>LangGraph</a:t>
                      </a:r>
                      <a:endParaRPr lang="en-IN" sz="1600" cap="none" spc="0">
                        <a:solidFill>
                          <a:schemeClr val="tx1"/>
                        </a:solidFill>
                      </a:endParaRPr>
                    </a:p>
                  </a:txBody>
                  <a:tcPr marL="201143" marR="154725" marT="154725" marB="154725"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IN" sz="1600" dirty="0"/>
                        <a:t>Build </a:t>
                      </a:r>
                      <a:r>
                        <a:rPr lang="en-IN" sz="1600" b="1" dirty="0"/>
                        <a:t>multi-step, stateful</a:t>
                      </a:r>
                      <a:r>
                        <a:rPr lang="en-IN" sz="1600" dirty="0"/>
                        <a:t> agent workflows with </a:t>
                      </a:r>
                      <a:r>
                        <a:rPr lang="en-IN" sz="1600" b="1" dirty="0"/>
                        <a:t>branching and loops</a:t>
                      </a:r>
                      <a:r>
                        <a:rPr lang="en-IN" sz="1600" dirty="0"/>
                        <a:t>.</a:t>
                      </a:r>
                      <a:endParaRPr lang="en-IN" sz="1600" cap="none" spc="0" dirty="0">
                        <a:solidFill>
                          <a:schemeClr val="tx1"/>
                        </a:solidFill>
                      </a:endParaRPr>
                    </a:p>
                  </a:txBody>
                  <a:tcPr marL="201143" marR="154725" marT="154725" marB="154725"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780941212"/>
                  </a:ext>
                </a:extLst>
              </a:tr>
              <a:tr h="732367">
                <a:tc>
                  <a:txBody>
                    <a:bodyPr/>
                    <a:lstStyle/>
                    <a:p>
                      <a:r>
                        <a:rPr lang="en-IN" sz="1600" b="1" cap="none" spc="0" dirty="0" err="1">
                          <a:solidFill>
                            <a:schemeClr val="tx1"/>
                          </a:solidFill>
                        </a:rPr>
                        <a:t>LangSmith</a:t>
                      </a:r>
                      <a:endParaRPr lang="en-IN" sz="1600" cap="none" spc="0" dirty="0">
                        <a:solidFill>
                          <a:schemeClr val="tx1"/>
                        </a:solidFill>
                      </a:endParaRPr>
                    </a:p>
                  </a:txBody>
                  <a:tcPr marL="201143" marR="154725" marT="154725" marB="154725"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round/>
                      <a:headEnd type="none" w="med" len="med"/>
                      <a:tailEnd type="none" w="med" len="med"/>
                    </a:lnB>
                    <a:noFill/>
                  </a:tcPr>
                </a:tc>
                <a:tc>
                  <a:txBody>
                    <a:bodyPr/>
                    <a:lstStyle/>
                    <a:p>
                      <a:r>
                        <a:rPr lang="en-IN" sz="1600" b="1" dirty="0"/>
                        <a:t>Debugging, monitoring, evaluation</a:t>
                      </a:r>
                      <a:r>
                        <a:rPr lang="en-IN" sz="1600" dirty="0"/>
                        <a:t>, and </a:t>
                      </a:r>
                      <a:r>
                        <a:rPr lang="en-IN" sz="1600" b="1" dirty="0"/>
                        <a:t>observability</a:t>
                      </a:r>
                      <a:r>
                        <a:rPr lang="en-IN" sz="1600" dirty="0"/>
                        <a:t> platform.</a:t>
                      </a:r>
                      <a:endParaRPr lang="en-IN" sz="1600" cap="none" spc="0" dirty="0">
                        <a:solidFill>
                          <a:schemeClr val="tx1"/>
                        </a:solidFill>
                      </a:endParaRPr>
                    </a:p>
                  </a:txBody>
                  <a:tcPr marL="201143" marR="154725" marT="154725" marB="154725"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497701908"/>
                  </a:ext>
                </a:extLst>
              </a:tr>
              <a:tr h="732367">
                <a:tc>
                  <a:txBody>
                    <a:bodyPr/>
                    <a:lstStyle/>
                    <a:p>
                      <a:r>
                        <a:rPr lang="en-IN" sz="1600" b="1" cap="none" spc="0" dirty="0" err="1">
                          <a:solidFill>
                            <a:schemeClr val="tx1"/>
                          </a:solidFill>
                        </a:rPr>
                        <a:t>Ollama</a:t>
                      </a:r>
                      <a:endParaRPr lang="en-IN" sz="1600" cap="none" spc="0" dirty="0">
                        <a:solidFill>
                          <a:schemeClr val="tx1"/>
                        </a:solidFill>
                      </a:endParaRPr>
                    </a:p>
                  </a:txBody>
                  <a:tcPr marL="201143" marR="154725" marT="154725" marB="154725" anchor="ctr">
                    <a:lnL w="19050" cap="flat" cmpd="sng" algn="ctr">
                      <a:solidFill>
                        <a:schemeClr val="tx1"/>
                      </a:solidFill>
                      <a:prstDash val="soli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lnB>
                    <a:noFill/>
                  </a:tcPr>
                </a:tc>
                <a:tc>
                  <a:txBody>
                    <a:bodyPr/>
                    <a:lstStyle/>
                    <a:p>
                      <a:r>
                        <a:rPr lang="en-IN" sz="1600" cap="none" spc="0">
                          <a:solidFill>
                            <a:schemeClr val="tx1"/>
                          </a:solidFill>
                        </a:rPr>
                        <a:t>Run LLMs like LLaMA, Mistral locally</a:t>
                      </a:r>
                    </a:p>
                  </a:txBody>
                  <a:tcPr marL="201143" marR="154725" marT="154725" marB="154725" anchor="ctr">
                    <a:lnL w="6350" cap="flat" cmpd="sng" algn="ctr">
                      <a:solidFill>
                        <a:schemeClr val="tx1">
                          <a:lumMod val="50000"/>
                          <a:lumOff val="50000"/>
                        </a:schemeClr>
                      </a:solidFill>
                      <a:prstDash val="solid"/>
                      <a:round/>
                      <a:headEnd type="none" w="med" len="med"/>
                      <a:tailEnd type="none" w="med" len="med"/>
                    </a:lnL>
                    <a:lnR w="19050" cap="flat" cmpd="sng" algn="ctr">
                      <a:solidFill>
                        <a:schemeClr val="tx1"/>
                      </a:solidFill>
                      <a:prstDash val="soli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914839156"/>
                  </a:ext>
                </a:extLst>
              </a:tr>
              <a:tr h="732367">
                <a:tc>
                  <a:txBody>
                    <a:bodyPr/>
                    <a:lstStyle/>
                    <a:p>
                      <a:r>
                        <a:rPr lang="en-IN" sz="1600" b="1" cap="none" spc="0">
                          <a:solidFill>
                            <a:schemeClr val="tx1"/>
                          </a:solidFill>
                        </a:rPr>
                        <a:t>Vector DB (e.g., FAISS)</a:t>
                      </a:r>
                      <a:endParaRPr lang="en-IN" sz="1600" cap="none" spc="0">
                        <a:solidFill>
                          <a:schemeClr val="tx1"/>
                        </a:solidFill>
                      </a:endParaRPr>
                    </a:p>
                  </a:txBody>
                  <a:tcPr marL="201143" marR="154725" marT="154725" marB="154725" anchor="ctr">
                    <a:lnL w="19050" cap="flat" cmpd="sng" algn="ctr">
                      <a:solidFill>
                        <a:schemeClr val="tx1"/>
                      </a:solidFill>
                      <a:prstDash val="soli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lnB>
                    <a:noFill/>
                  </a:tcPr>
                </a:tc>
                <a:tc>
                  <a:txBody>
                    <a:bodyPr/>
                    <a:lstStyle/>
                    <a:p>
                      <a:r>
                        <a:rPr lang="en-IN" sz="1600" cap="none" spc="0">
                          <a:solidFill>
                            <a:schemeClr val="tx1"/>
                          </a:solidFill>
                        </a:rPr>
                        <a:t>Store/search embeddings</a:t>
                      </a:r>
                    </a:p>
                  </a:txBody>
                  <a:tcPr marL="201143" marR="154725" marT="154725" marB="154725" anchor="ctr">
                    <a:lnL w="6350" cap="flat" cmpd="sng" algn="ctr">
                      <a:solidFill>
                        <a:schemeClr val="tx1">
                          <a:lumMod val="50000"/>
                          <a:lumOff val="50000"/>
                        </a:schemeClr>
                      </a:solidFill>
                      <a:prstDash val="solid"/>
                      <a:round/>
                      <a:headEnd type="none" w="med" len="med"/>
                      <a:tailEnd type="none" w="med" len="med"/>
                    </a:lnL>
                    <a:lnR w="19050" cap="flat" cmpd="sng" algn="ctr">
                      <a:solidFill>
                        <a:schemeClr val="tx1"/>
                      </a:solidFill>
                      <a:prstDash val="soli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098248620"/>
                  </a:ext>
                </a:extLst>
              </a:tr>
              <a:tr h="732367">
                <a:tc>
                  <a:txBody>
                    <a:bodyPr/>
                    <a:lstStyle/>
                    <a:p>
                      <a:r>
                        <a:rPr lang="en-IN" sz="1600" b="1" cap="none" spc="0">
                          <a:solidFill>
                            <a:schemeClr val="tx1"/>
                          </a:solidFill>
                        </a:rPr>
                        <a:t>Embeddings</a:t>
                      </a:r>
                      <a:endParaRPr lang="en-IN" sz="1600" cap="none" spc="0">
                        <a:solidFill>
                          <a:schemeClr val="tx1"/>
                        </a:solidFill>
                      </a:endParaRPr>
                    </a:p>
                  </a:txBody>
                  <a:tcPr marL="201143" marR="154725" marT="154725" marB="154725" anchor="ctr">
                    <a:lnL w="19050" cap="flat" cmpd="sng" algn="ctr">
                      <a:solidFill>
                        <a:schemeClr val="tx1"/>
                      </a:solidFill>
                      <a:prstDash val="soli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r>
                        <a:rPr lang="en-IN" sz="1600" cap="none" spc="0" dirty="0">
                          <a:solidFill>
                            <a:schemeClr val="tx1"/>
                          </a:solidFill>
                        </a:rPr>
                        <a:t>Semantic representation of text chunks</a:t>
                      </a:r>
                    </a:p>
                  </a:txBody>
                  <a:tcPr marL="201143" marR="154725" marT="154725" marB="154725" anchor="ctr">
                    <a:lnL w="6350" cap="flat" cmpd="sng" algn="ctr">
                      <a:solidFill>
                        <a:schemeClr val="tx1">
                          <a:lumMod val="50000"/>
                          <a:lumOff val="50000"/>
                        </a:schemeClr>
                      </a:solidFill>
                      <a:prstDash val="solid"/>
                      <a:round/>
                      <a:headEnd type="none" w="med" len="med"/>
                      <a:tailEnd type="none" w="med" len="med"/>
                    </a:lnL>
                    <a:lnR w="19050" cap="flat" cmpd="sng" algn="ctr">
                      <a:solidFill>
                        <a:schemeClr val="tx1"/>
                      </a:solidFill>
                      <a:prstDash val="soli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95297409"/>
                  </a:ext>
                </a:extLst>
              </a:tr>
            </a:tbl>
          </a:graphicData>
        </a:graphic>
      </p:graphicFrame>
    </p:spTree>
    <p:extLst>
      <p:ext uri="{BB962C8B-B14F-4D97-AF65-F5344CB8AC3E}">
        <p14:creationId xmlns:p14="http://schemas.microsoft.com/office/powerpoint/2010/main" val="703766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BAFEE1-3B15-F455-AC45-B1C760D09D6F}"/>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8146D561-B8BA-590B-10A4-DA07F8F55B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1C8638E9-74ED-109A-85A7-D2EB2C40183E}"/>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marL="0" marR="0" lvl="0" indent="0" algn="ctr" fontAlgn="base">
              <a:lnSpc>
                <a:spcPct val="90000"/>
              </a:lnSpc>
              <a:spcBef>
                <a:spcPct val="0"/>
              </a:spcBef>
              <a:spcAft>
                <a:spcPts val="600"/>
              </a:spcAft>
              <a:buClrTx/>
              <a:buSzTx/>
              <a:tabLst/>
            </a:pPr>
            <a:endParaRPr kumimoji="0" lang="en-US" altLang="en-US" sz="2800" b="1" i="0" u="none" strike="noStrike" kern="1200" cap="none" normalizeH="0" baseline="0" dirty="0">
              <a:ln>
                <a:noFill/>
              </a:ln>
              <a:solidFill>
                <a:schemeClr val="bg1"/>
              </a:solidFill>
              <a:effectLst/>
              <a:latin typeface="+mj-lt"/>
              <a:ea typeface="+mj-ea"/>
              <a:cs typeface="+mj-cs"/>
            </a:endParaRPr>
          </a:p>
          <a:p>
            <a:pPr marL="0" marR="0" lvl="0" indent="0" algn="ctr" fontAlgn="base">
              <a:lnSpc>
                <a:spcPct val="90000"/>
              </a:lnSpc>
              <a:spcBef>
                <a:spcPct val="0"/>
              </a:spcBef>
              <a:spcAft>
                <a:spcPts val="600"/>
              </a:spcAft>
              <a:buClrTx/>
              <a:buSzTx/>
              <a:tabLst/>
            </a:pPr>
            <a:r>
              <a:rPr kumimoji="0" lang="en-US" altLang="en-US" sz="2800" b="1" i="0" u="none" strike="noStrike" kern="1200" cap="none" normalizeH="0" baseline="0" dirty="0">
                <a:ln>
                  <a:noFill/>
                </a:ln>
                <a:solidFill>
                  <a:schemeClr val="bg1"/>
                </a:solidFill>
                <a:effectLst/>
                <a:latin typeface="+mj-lt"/>
                <a:ea typeface="+mj-ea"/>
                <a:cs typeface="+mj-cs"/>
              </a:rPr>
              <a:t>🧠 Stateless vs. Stateful in LLM/Agentic AI</a:t>
            </a:r>
          </a:p>
          <a:p>
            <a:pPr marL="0" marR="0" lvl="0" indent="0" algn="ctr" fontAlgn="base">
              <a:lnSpc>
                <a:spcPct val="90000"/>
              </a:lnSpc>
              <a:spcBef>
                <a:spcPct val="0"/>
              </a:spcBef>
              <a:spcAft>
                <a:spcPts val="600"/>
              </a:spcAft>
              <a:buClrTx/>
              <a:buSzTx/>
              <a:tabLst/>
            </a:pPr>
            <a:endParaRPr kumimoji="0" lang="en-US" altLang="en-US" sz="2800" b="0" i="0" u="none" strike="noStrike" kern="1200" cap="none" normalizeH="0" baseline="0" dirty="0">
              <a:ln>
                <a:noFill/>
              </a:ln>
              <a:solidFill>
                <a:schemeClr val="bg1"/>
              </a:solidFill>
              <a:effectLst/>
              <a:latin typeface="+mj-lt"/>
              <a:ea typeface="+mj-ea"/>
              <a:cs typeface="+mj-cs"/>
            </a:endParaRPr>
          </a:p>
        </p:txBody>
      </p:sp>
      <p:graphicFrame>
        <p:nvGraphicFramePr>
          <p:cNvPr id="4" name="Table 3">
            <a:extLst>
              <a:ext uri="{FF2B5EF4-FFF2-40B4-BE49-F238E27FC236}">
                <a16:creationId xmlns:a16="http://schemas.microsoft.com/office/drawing/2014/main" id="{A4FD7231-4FBF-EA48-BBF2-3F50C2159E8D}"/>
              </a:ext>
            </a:extLst>
          </p:cNvPr>
          <p:cNvGraphicFramePr>
            <a:graphicFrameLocks noGrp="1"/>
          </p:cNvGraphicFramePr>
          <p:nvPr>
            <p:extLst>
              <p:ext uri="{D42A27DB-BD31-4B8C-83A1-F6EECF244321}">
                <p14:modId xmlns:p14="http://schemas.microsoft.com/office/powerpoint/2010/main" val="3774647723"/>
              </p:ext>
            </p:extLst>
          </p:nvPr>
        </p:nvGraphicFramePr>
        <p:xfrm>
          <a:off x="643467" y="1896848"/>
          <a:ext cx="10905067" cy="3950962"/>
        </p:xfrm>
        <a:graphic>
          <a:graphicData uri="http://schemas.openxmlformats.org/drawingml/2006/table">
            <a:tbl>
              <a:tblPr>
                <a:solidFill>
                  <a:schemeClr val="bg1"/>
                </a:solidFill>
              </a:tblPr>
              <a:tblGrid>
                <a:gridCol w="2025391">
                  <a:extLst>
                    <a:ext uri="{9D8B030D-6E8A-4147-A177-3AD203B41FA5}">
                      <a16:colId xmlns:a16="http://schemas.microsoft.com/office/drawing/2014/main" val="90523622"/>
                    </a:ext>
                  </a:extLst>
                </a:gridCol>
                <a:gridCol w="4372068">
                  <a:extLst>
                    <a:ext uri="{9D8B030D-6E8A-4147-A177-3AD203B41FA5}">
                      <a16:colId xmlns:a16="http://schemas.microsoft.com/office/drawing/2014/main" val="822423379"/>
                    </a:ext>
                  </a:extLst>
                </a:gridCol>
                <a:gridCol w="4507608">
                  <a:extLst>
                    <a:ext uri="{9D8B030D-6E8A-4147-A177-3AD203B41FA5}">
                      <a16:colId xmlns:a16="http://schemas.microsoft.com/office/drawing/2014/main" val="579385412"/>
                    </a:ext>
                  </a:extLst>
                </a:gridCol>
              </a:tblGrid>
              <a:tr h="440374">
                <a:tc>
                  <a:txBody>
                    <a:bodyPr/>
                    <a:lstStyle/>
                    <a:p>
                      <a:r>
                        <a:rPr lang="en-IN" sz="1400" b="1" cap="none" spc="0" dirty="0">
                          <a:solidFill>
                            <a:schemeClr val="tx1"/>
                          </a:solidFill>
                        </a:rPr>
                        <a:t>Concept</a:t>
                      </a:r>
                    </a:p>
                  </a:txBody>
                  <a:tcPr marL="120948" marR="87471" marT="93037" marB="93037"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r>
                        <a:rPr lang="en-IN" sz="1400" b="1" cap="none" spc="0">
                          <a:solidFill>
                            <a:schemeClr val="tx1"/>
                          </a:solidFill>
                        </a:rPr>
                        <a:t>Stateless</a:t>
                      </a:r>
                      <a:endParaRPr lang="en-IN" sz="1400" cap="none" spc="0">
                        <a:solidFill>
                          <a:schemeClr val="tx1"/>
                        </a:solidFill>
                      </a:endParaRPr>
                    </a:p>
                  </a:txBody>
                  <a:tcPr marL="120948" marR="87471" marT="93037" marB="9303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r>
                        <a:rPr lang="en-IN" sz="1400" b="1" cap="none" spc="0">
                          <a:solidFill>
                            <a:schemeClr val="tx1"/>
                          </a:solidFill>
                        </a:rPr>
                        <a:t>Stateful</a:t>
                      </a:r>
                      <a:endParaRPr lang="en-IN" sz="1400" cap="none" spc="0">
                        <a:solidFill>
                          <a:schemeClr val="tx1"/>
                        </a:solidFill>
                      </a:endParaRPr>
                    </a:p>
                  </a:txBody>
                  <a:tcPr marL="120948" marR="87471" marT="93037" marB="93037"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534608889"/>
                  </a:ext>
                </a:extLst>
              </a:tr>
              <a:tr h="440374">
                <a:tc>
                  <a:txBody>
                    <a:bodyPr/>
                    <a:lstStyle/>
                    <a:p>
                      <a:r>
                        <a:rPr lang="en-IN" sz="1400" b="1" cap="none" spc="0" dirty="0">
                          <a:solidFill>
                            <a:schemeClr val="tx1"/>
                          </a:solidFill>
                        </a:rPr>
                        <a:t>Definition</a:t>
                      </a:r>
                      <a:endParaRPr lang="en-IN" sz="1400" cap="none" spc="0" dirty="0">
                        <a:solidFill>
                          <a:schemeClr val="tx1"/>
                        </a:solidFill>
                      </a:endParaRPr>
                    </a:p>
                  </a:txBody>
                  <a:tcPr marL="120948" marR="87471" marT="93037" marB="93037"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IN" sz="1400" cap="none" spc="0">
                          <a:solidFill>
                            <a:schemeClr val="tx1"/>
                          </a:solidFill>
                        </a:rPr>
                        <a:t>Each interaction is treated independently</a:t>
                      </a:r>
                    </a:p>
                  </a:txBody>
                  <a:tcPr marL="120948" marR="87471" marT="93037" marB="9303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IN" sz="1400" cap="none" spc="0">
                          <a:solidFill>
                            <a:schemeClr val="tx1"/>
                          </a:solidFill>
                        </a:rPr>
                        <a:t>System remembers past interactions and context</a:t>
                      </a:r>
                    </a:p>
                  </a:txBody>
                  <a:tcPr marL="120948" marR="87471" marT="93037" marB="93037"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093668616"/>
                  </a:ext>
                </a:extLst>
              </a:tr>
              <a:tr h="440374">
                <a:tc>
                  <a:txBody>
                    <a:bodyPr/>
                    <a:lstStyle/>
                    <a:p>
                      <a:r>
                        <a:rPr lang="en-IN" sz="1400" b="1" cap="none" spc="0" dirty="0">
                          <a:solidFill>
                            <a:schemeClr val="tx1"/>
                          </a:solidFill>
                        </a:rPr>
                        <a:t>Memory</a:t>
                      </a:r>
                      <a:endParaRPr lang="en-IN" sz="1400" cap="none" spc="0" dirty="0">
                        <a:solidFill>
                          <a:schemeClr val="tx1"/>
                        </a:solidFill>
                      </a:endParaRPr>
                    </a:p>
                  </a:txBody>
                  <a:tcPr marL="120948" marR="87471" marT="93037" marB="93037"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IN" sz="1400" cap="none" spc="0">
                          <a:solidFill>
                            <a:schemeClr val="tx1"/>
                          </a:solidFill>
                        </a:rPr>
                        <a:t>No memory of previous queries or actions</a:t>
                      </a:r>
                    </a:p>
                  </a:txBody>
                  <a:tcPr marL="120948" marR="87471" marT="93037" marB="9303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IN" sz="1400" cap="none" spc="0">
                          <a:solidFill>
                            <a:schemeClr val="tx1"/>
                          </a:solidFill>
                        </a:rPr>
                        <a:t>Keeps track of conversation, tasks, or data</a:t>
                      </a:r>
                    </a:p>
                  </a:txBody>
                  <a:tcPr marL="120948" marR="87471" marT="93037" marB="93037"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352684686"/>
                  </a:ext>
                </a:extLst>
              </a:tr>
              <a:tr h="657460">
                <a:tc>
                  <a:txBody>
                    <a:bodyPr/>
                    <a:lstStyle/>
                    <a:p>
                      <a:r>
                        <a:rPr lang="en-IN" sz="1400" b="1" cap="none" spc="0" dirty="0">
                          <a:solidFill>
                            <a:schemeClr val="tx1"/>
                          </a:solidFill>
                        </a:rPr>
                        <a:t>Example</a:t>
                      </a:r>
                      <a:endParaRPr lang="en-IN" sz="1400" cap="none" spc="0" dirty="0">
                        <a:solidFill>
                          <a:schemeClr val="tx1"/>
                        </a:solidFill>
                      </a:endParaRPr>
                    </a:p>
                  </a:txBody>
                  <a:tcPr marL="120948" marR="87471" marT="93037" marB="93037"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IN" sz="1400" cap="none" spc="0" dirty="0">
                          <a:solidFill>
                            <a:schemeClr val="tx1"/>
                          </a:solidFill>
                        </a:rPr>
                        <a:t>Asking "What’s the weather?" twice gives the same response each time</a:t>
                      </a:r>
                    </a:p>
                  </a:txBody>
                  <a:tcPr marL="120948" marR="87471" marT="93037" marB="9303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IN" sz="1400" cap="none" spc="0">
                          <a:solidFill>
                            <a:schemeClr val="tx1"/>
                          </a:solidFill>
                        </a:rPr>
                        <a:t>Asking "What about tomorrow?" after "What's the weather today?" gives a connected response</a:t>
                      </a:r>
                    </a:p>
                  </a:txBody>
                  <a:tcPr marL="120948" marR="87471" marT="93037" marB="93037"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11383617"/>
                  </a:ext>
                </a:extLst>
              </a:tr>
              <a:tr h="657460">
                <a:tc>
                  <a:txBody>
                    <a:bodyPr/>
                    <a:lstStyle/>
                    <a:p>
                      <a:r>
                        <a:rPr lang="en-IN" sz="1400" b="1" cap="none" spc="0">
                          <a:solidFill>
                            <a:schemeClr val="tx1"/>
                          </a:solidFill>
                        </a:rPr>
                        <a:t>Typical Use</a:t>
                      </a:r>
                      <a:endParaRPr lang="en-IN" sz="1400" cap="none" spc="0">
                        <a:solidFill>
                          <a:schemeClr val="tx1"/>
                        </a:solidFill>
                      </a:endParaRPr>
                    </a:p>
                  </a:txBody>
                  <a:tcPr marL="120948" marR="87471" marT="93037" marB="93037"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IN" sz="1400" cap="none" spc="0">
                          <a:solidFill>
                            <a:schemeClr val="tx1"/>
                          </a:solidFill>
                        </a:rPr>
                        <a:t>Standard LLM API call (e.g., chat.openai.com)</a:t>
                      </a:r>
                    </a:p>
                  </a:txBody>
                  <a:tcPr marL="120948" marR="87471" marT="93037" marB="9303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IN" sz="1400" cap="none" spc="0">
                          <a:solidFill>
                            <a:schemeClr val="tx1"/>
                          </a:solidFill>
                        </a:rPr>
                        <a:t>Agentic systems, chatbots with memory, goal-based agents</a:t>
                      </a:r>
                    </a:p>
                  </a:txBody>
                  <a:tcPr marL="120948" marR="87471" marT="93037" marB="93037"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243793617"/>
                  </a:ext>
                </a:extLst>
              </a:tr>
              <a:tr h="657460">
                <a:tc>
                  <a:txBody>
                    <a:bodyPr/>
                    <a:lstStyle/>
                    <a:p>
                      <a:r>
                        <a:rPr lang="en-IN" sz="1400" b="1" cap="none" spc="0">
                          <a:solidFill>
                            <a:schemeClr val="tx1"/>
                          </a:solidFill>
                        </a:rPr>
                        <a:t>Analogy</a:t>
                      </a:r>
                      <a:endParaRPr lang="en-IN" sz="1400" cap="none" spc="0">
                        <a:solidFill>
                          <a:schemeClr val="tx1"/>
                        </a:solidFill>
                      </a:endParaRPr>
                    </a:p>
                  </a:txBody>
                  <a:tcPr marL="120948" marR="87471" marT="93037" marB="93037"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IN" sz="1400" cap="none" spc="0">
                          <a:solidFill>
                            <a:schemeClr val="tx1"/>
                          </a:solidFill>
                        </a:rPr>
                        <a:t>Like a vending machine — it doesn’t remember what you bought earlier</a:t>
                      </a:r>
                    </a:p>
                  </a:txBody>
                  <a:tcPr marL="120948" marR="87471" marT="93037" marB="9303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IN" sz="1400" cap="none" spc="0">
                          <a:solidFill>
                            <a:schemeClr val="tx1"/>
                          </a:solidFill>
                        </a:rPr>
                        <a:t>Like a personal assistant — remembers your past preferences and tasks</a:t>
                      </a:r>
                    </a:p>
                  </a:txBody>
                  <a:tcPr marL="120948" marR="87471" marT="93037" marB="93037"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890036113"/>
                  </a:ext>
                </a:extLst>
              </a:tr>
              <a:tr h="657460">
                <a:tc>
                  <a:txBody>
                    <a:bodyPr/>
                    <a:lstStyle/>
                    <a:p>
                      <a:r>
                        <a:rPr lang="en-IN" sz="1400" b="1" cap="none" spc="0">
                          <a:solidFill>
                            <a:schemeClr val="tx1"/>
                          </a:solidFill>
                        </a:rPr>
                        <a:t>Limitation</a:t>
                      </a:r>
                      <a:endParaRPr lang="en-IN" sz="1400" cap="none" spc="0">
                        <a:solidFill>
                          <a:schemeClr val="tx1"/>
                        </a:solidFill>
                      </a:endParaRPr>
                    </a:p>
                  </a:txBody>
                  <a:tcPr marL="120948" marR="87471" marT="93037" marB="93037"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r>
                        <a:rPr lang="en-IN" sz="1400" cap="none" spc="0">
                          <a:solidFill>
                            <a:schemeClr val="tx1"/>
                          </a:solidFill>
                        </a:rPr>
                        <a:t>Cannot handle multi-step reasoning or follow-up questions</a:t>
                      </a:r>
                    </a:p>
                  </a:txBody>
                  <a:tcPr marL="120948" marR="87471" marT="93037" marB="9303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r>
                        <a:rPr lang="en-IN" sz="1400" cap="none" spc="0" dirty="0">
                          <a:solidFill>
                            <a:schemeClr val="tx1"/>
                          </a:solidFill>
                        </a:rPr>
                        <a:t>Can build on prior steps, results, and decisions</a:t>
                      </a:r>
                    </a:p>
                  </a:txBody>
                  <a:tcPr marL="120948" marR="87471" marT="93037" marB="93037"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810615129"/>
                  </a:ext>
                </a:extLst>
              </a:tr>
            </a:tbl>
          </a:graphicData>
        </a:graphic>
      </p:graphicFrame>
    </p:spTree>
    <p:extLst>
      <p:ext uri="{BB962C8B-B14F-4D97-AF65-F5344CB8AC3E}">
        <p14:creationId xmlns:p14="http://schemas.microsoft.com/office/powerpoint/2010/main" val="671031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BCC697-534F-83B0-8499-B22E2A82F0A4}"/>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73271BC8-BB85-5B6A-7A43-A8110CBAE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6A23D65F-8C31-1512-BF9D-F36B5A5F59E9}"/>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lang="en-IN" sz="2800" b="1" dirty="0">
                <a:solidFill>
                  <a:schemeClr val="bg1"/>
                </a:solidFill>
              </a:rPr>
              <a:t>🧩 Why Does It Matter for Agentic AI?</a:t>
            </a:r>
            <a:endParaRPr kumimoji="0" lang="en-US" altLang="en-US" sz="2800" b="0" i="0" u="none" strike="noStrike" kern="1200" cap="none" normalizeH="0" baseline="0" dirty="0">
              <a:ln>
                <a:noFill/>
              </a:ln>
              <a:solidFill>
                <a:schemeClr val="bg1"/>
              </a:solidFill>
              <a:effectLst/>
              <a:latin typeface="+mj-lt"/>
              <a:ea typeface="+mj-ea"/>
              <a:cs typeface="+mj-cs"/>
            </a:endParaRPr>
          </a:p>
        </p:txBody>
      </p:sp>
      <p:sp>
        <p:nvSpPr>
          <p:cNvPr id="3" name="TextBox 2">
            <a:extLst>
              <a:ext uri="{FF2B5EF4-FFF2-40B4-BE49-F238E27FC236}">
                <a16:creationId xmlns:a16="http://schemas.microsoft.com/office/drawing/2014/main" id="{3D86F880-4402-2206-680C-0FA2AF22CB43}"/>
              </a:ext>
            </a:extLst>
          </p:cNvPr>
          <p:cNvSpPr txBox="1"/>
          <p:nvPr/>
        </p:nvSpPr>
        <p:spPr>
          <a:xfrm>
            <a:off x="550982" y="1552398"/>
            <a:ext cx="11090036" cy="3693319"/>
          </a:xfrm>
          <a:prstGeom prst="rect">
            <a:avLst/>
          </a:prstGeom>
          <a:noFill/>
        </p:spPr>
        <p:txBody>
          <a:bodyPr wrap="square">
            <a:spAutoFit/>
          </a:bodyPr>
          <a:lstStyle/>
          <a:p>
            <a:pPr>
              <a:buNone/>
            </a:pPr>
            <a:r>
              <a:rPr lang="en-IN" b="1" dirty="0"/>
              <a:t>Agentic systems often:</a:t>
            </a:r>
          </a:p>
          <a:p>
            <a:pPr marL="742950" lvl="1" indent="-285750">
              <a:buFont typeface="Arial" panose="020B0604020202020204" pitchFamily="34" charset="0"/>
              <a:buChar char="•"/>
            </a:pPr>
            <a:r>
              <a:rPr lang="en-IN" dirty="0"/>
              <a:t>Work toward a </a:t>
            </a:r>
            <a:r>
              <a:rPr lang="en-IN" b="1" dirty="0"/>
              <a:t>goal</a:t>
            </a:r>
            <a:r>
              <a:rPr lang="en-IN" dirty="0"/>
              <a:t> over multiple steps</a:t>
            </a:r>
          </a:p>
          <a:p>
            <a:pPr marL="742950" lvl="1" indent="-285750">
              <a:buFont typeface="Arial" panose="020B0604020202020204" pitchFamily="34" charset="0"/>
              <a:buChar char="•"/>
            </a:pPr>
            <a:r>
              <a:rPr lang="en-IN" dirty="0"/>
              <a:t>Need to remember </a:t>
            </a:r>
            <a:r>
              <a:rPr lang="en-IN" b="1" dirty="0"/>
              <a:t>what has already been done</a:t>
            </a:r>
            <a:endParaRPr lang="en-IN" dirty="0"/>
          </a:p>
          <a:p>
            <a:pPr marL="742950" lvl="1" indent="-285750">
              <a:buFont typeface="Arial" panose="020B0604020202020204" pitchFamily="34" charset="0"/>
              <a:buChar char="•"/>
            </a:pPr>
            <a:r>
              <a:rPr lang="en-IN" dirty="0"/>
              <a:t>Require </a:t>
            </a:r>
            <a:r>
              <a:rPr lang="en-IN" b="1" dirty="0"/>
              <a:t>context</a:t>
            </a:r>
            <a:r>
              <a:rPr lang="en-IN" dirty="0"/>
              <a:t> to choose next actions or tools</a:t>
            </a:r>
          </a:p>
          <a:p>
            <a:pPr lvl="1"/>
            <a:endParaRPr lang="en-IN" dirty="0"/>
          </a:p>
          <a:p>
            <a:r>
              <a:rPr lang="en-IN" dirty="0"/>
              <a:t>So they must be </a:t>
            </a:r>
            <a:r>
              <a:rPr lang="en-IN" b="1" dirty="0"/>
              <a:t>stateful</a:t>
            </a:r>
            <a:r>
              <a:rPr lang="en-IN" dirty="0"/>
              <a:t> — tracking:</a:t>
            </a:r>
          </a:p>
          <a:p>
            <a:pPr marL="742950" lvl="1" indent="-285750">
              <a:buFont typeface="Arial" panose="020B0604020202020204" pitchFamily="34" charset="0"/>
              <a:buChar char="•"/>
            </a:pPr>
            <a:r>
              <a:rPr lang="en-IN" dirty="0"/>
              <a:t>Task progress</a:t>
            </a:r>
          </a:p>
          <a:p>
            <a:pPr marL="742950" lvl="1" indent="-285750">
              <a:buFont typeface="Arial" panose="020B0604020202020204" pitchFamily="34" charset="0"/>
              <a:buChar char="•"/>
            </a:pPr>
            <a:r>
              <a:rPr lang="en-IN" dirty="0"/>
              <a:t>Intermediate results</a:t>
            </a:r>
          </a:p>
          <a:p>
            <a:pPr marL="742950" lvl="1" indent="-285750">
              <a:buFont typeface="Arial" panose="020B0604020202020204" pitchFamily="34" charset="0"/>
              <a:buChar char="•"/>
            </a:pPr>
            <a:r>
              <a:rPr lang="en-IN" dirty="0"/>
              <a:t>Past tool/API calls</a:t>
            </a:r>
          </a:p>
          <a:p>
            <a:pPr marL="742950" lvl="1" indent="-285750">
              <a:buFont typeface="Arial" panose="020B0604020202020204" pitchFamily="34" charset="0"/>
              <a:buChar char="•"/>
            </a:pPr>
            <a:r>
              <a:rPr lang="en-IN" dirty="0"/>
              <a:t>User preferences and history</a:t>
            </a:r>
          </a:p>
          <a:p>
            <a:pPr marL="742950" lvl="1" indent="-285750">
              <a:buFont typeface="Arial" panose="020B0604020202020204" pitchFamily="34" charset="0"/>
              <a:buChar char="•"/>
            </a:pPr>
            <a:endParaRPr lang="en-IN" dirty="0"/>
          </a:p>
          <a:p>
            <a:r>
              <a:rPr lang="en-IN" dirty="0"/>
              <a:t>Frameworks like </a:t>
            </a:r>
            <a:r>
              <a:rPr lang="en-IN" b="1" dirty="0" err="1"/>
              <a:t>LangChain</a:t>
            </a:r>
            <a:r>
              <a:rPr lang="en-IN" b="1" dirty="0"/>
              <a:t> with memory modules</a:t>
            </a:r>
            <a:r>
              <a:rPr lang="en-IN" dirty="0"/>
              <a:t> or </a:t>
            </a:r>
            <a:r>
              <a:rPr lang="en-IN" b="1" dirty="0" err="1"/>
              <a:t>LangGraph</a:t>
            </a:r>
            <a:r>
              <a:rPr lang="en-IN" b="1" dirty="0"/>
              <a:t> with persistent state</a:t>
            </a:r>
            <a:r>
              <a:rPr lang="en-IN" dirty="0"/>
              <a:t> make this possible.</a:t>
            </a:r>
          </a:p>
          <a:p>
            <a:endParaRPr lang="en-US" dirty="0"/>
          </a:p>
        </p:txBody>
      </p:sp>
    </p:spTree>
    <p:extLst>
      <p:ext uri="{BB962C8B-B14F-4D97-AF65-F5344CB8AC3E}">
        <p14:creationId xmlns:p14="http://schemas.microsoft.com/office/powerpoint/2010/main" val="843328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04E8E0-DBEA-F38D-D153-3593B7D4AF1A}"/>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D063618E-7B8D-841D-A10F-7F01B7E03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3EA0772F-0C8C-CFF3-0F94-DC3EDC93A126}"/>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lang="en-IN" sz="2800" dirty="0">
                <a:solidFill>
                  <a:schemeClr val="bg1"/>
                </a:solidFill>
              </a:rPr>
              <a:t>🔧 Example:</a:t>
            </a:r>
            <a:endParaRPr kumimoji="0" lang="en-US" altLang="en-US" sz="2800" b="0" i="0" u="none" strike="noStrike" kern="1200" cap="none" normalizeH="0" baseline="0" dirty="0">
              <a:ln>
                <a:noFill/>
              </a:ln>
              <a:solidFill>
                <a:schemeClr val="bg1"/>
              </a:solidFill>
              <a:effectLst/>
              <a:latin typeface="+mj-lt"/>
              <a:ea typeface="+mj-ea"/>
              <a:cs typeface="+mj-cs"/>
            </a:endParaRPr>
          </a:p>
        </p:txBody>
      </p:sp>
      <p:sp>
        <p:nvSpPr>
          <p:cNvPr id="6" name="TextBox 5">
            <a:extLst>
              <a:ext uri="{FF2B5EF4-FFF2-40B4-BE49-F238E27FC236}">
                <a16:creationId xmlns:a16="http://schemas.microsoft.com/office/drawing/2014/main" id="{652E6BC5-6250-E111-3F20-EF10606A3B43}"/>
              </a:ext>
            </a:extLst>
          </p:cNvPr>
          <p:cNvSpPr txBox="1"/>
          <p:nvPr/>
        </p:nvSpPr>
        <p:spPr>
          <a:xfrm>
            <a:off x="1051879" y="1823901"/>
            <a:ext cx="6098240" cy="369332"/>
          </a:xfrm>
          <a:prstGeom prst="rect">
            <a:avLst/>
          </a:prstGeom>
          <a:noFill/>
        </p:spPr>
        <p:txBody>
          <a:bodyPr wrap="square">
            <a:spAutoFit/>
          </a:bodyPr>
          <a:lstStyle/>
          <a:p>
            <a:r>
              <a:rPr lang="en-IN" b="1" dirty="0"/>
              <a:t>Stateless (Standard LLM):</a:t>
            </a:r>
            <a:endParaRPr lang="en-US" b="1" dirty="0"/>
          </a:p>
        </p:txBody>
      </p:sp>
      <p:sp>
        <p:nvSpPr>
          <p:cNvPr id="7" name="TextBox 6">
            <a:extLst>
              <a:ext uri="{FF2B5EF4-FFF2-40B4-BE49-F238E27FC236}">
                <a16:creationId xmlns:a16="http://schemas.microsoft.com/office/drawing/2014/main" id="{1A2E764D-BCA4-68F8-BC82-C2ED841BDD5A}"/>
              </a:ext>
            </a:extLst>
          </p:cNvPr>
          <p:cNvSpPr txBox="1"/>
          <p:nvPr/>
        </p:nvSpPr>
        <p:spPr>
          <a:xfrm>
            <a:off x="1051879" y="4308302"/>
            <a:ext cx="6098240" cy="369332"/>
          </a:xfrm>
          <a:prstGeom prst="rect">
            <a:avLst/>
          </a:prstGeom>
          <a:noFill/>
        </p:spPr>
        <p:txBody>
          <a:bodyPr wrap="square">
            <a:spAutoFit/>
          </a:bodyPr>
          <a:lstStyle/>
          <a:p>
            <a:r>
              <a:rPr lang="en-IN" b="1" dirty="0"/>
              <a:t>Stateful (Agentic AI):</a:t>
            </a:r>
            <a:endParaRPr lang="en-US" b="1" dirty="0"/>
          </a:p>
        </p:txBody>
      </p:sp>
      <p:sp>
        <p:nvSpPr>
          <p:cNvPr id="8" name="TextBox 7">
            <a:extLst>
              <a:ext uri="{FF2B5EF4-FFF2-40B4-BE49-F238E27FC236}">
                <a16:creationId xmlns:a16="http://schemas.microsoft.com/office/drawing/2014/main" id="{143B62AE-F822-8492-E0AF-C7B1EE114855}"/>
              </a:ext>
            </a:extLst>
          </p:cNvPr>
          <p:cNvSpPr txBox="1"/>
          <p:nvPr/>
        </p:nvSpPr>
        <p:spPr>
          <a:xfrm>
            <a:off x="1467853" y="2421885"/>
            <a:ext cx="6581273" cy="1477328"/>
          </a:xfrm>
          <a:prstGeom prst="rect">
            <a:avLst/>
          </a:prstGeom>
          <a:solidFill>
            <a:schemeClr val="bg2"/>
          </a:solidFill>
        </p:spPr>
        <p:txBody>
          <a:bodyPr wrap="square" rtlCol="0">
            <a:spAutoFit/>
          </a:bodyPr>
          <a:lstStyle/>
          <a:p>
            <a:r>
              <a:rPr lang="en-US" dirty="0" err="1"/>
              <a:t>llm.predict</a:t>
            </a:r>
            <a:r>
              <a:rPr lang="en-US" dirty="0"/>
              <a:t>(</a:t>
            </a:r>
            <a:r>
              <a:rPr lang="en-US" dirty="0">
                <a:solidFill>
                  <a:schemeClr val="accent6">
                    <a:lumMod val="75000"/>
                  </a:schemeClr>
                </a:solidFill>
              </a:rPr>
              <a:t>"Translate 'Hello' to French"</a:t>
            </a:r>
            <a:r>
              <a:rPr lang="en-US" dirty="0"/>
              <a:t>)</a:t>
            </a:r>
          </a:p>
          <a:p>
            <a:r>
              <a:rPr lang="en-US" dirty="0"/>
              <a:t># ➝ 'Bonjour’</a:t>
            </a:r>
          </a:p>
          <a:p>
            <a:endParaRPr lang="en-US" dirty="0"/>
          </a:p>
          <a:p>
            <a:r>
              <a:rPr lang="en-US" dirty="0" err="1"/>
              <a:t>llm.predict</a:t>
            </a:r>
            <a:r>
              <a:rPr lang="en-US" dirty="0"/>
              <a:t>(</a:t>
            </a:r>
            <a:r>
              <a:rPr lang="en-US" dirty="0">
                <a:solidFill>
                  <a:schemeClr val="accent6">
                    <a:lumMod val="75000"/>
                  </a:schemeClr>
                </a:solidFill>
              </a:rPr>
              <a:t>"Now translate it to German"</a:t>
            </a:r>
            <a:r>
              <a:rPr lang="en-US" dirty="0"/>
              <a:t>)</a:t>
            </a:r>
          </a:p>
          <a:p>
            <a:r>
              <a:rPr lang="en-US" dirty="0"/>
              <a:t># ➝ Doesn't know what 'it' is</a:t>
            </a:r>
          </a:p>
        </p:txBody>
      </p:sp>
      <p:sp>
        <p:nvSpPr>
          <p:cNvPr id="9" name="TextBox 8">
            <a:extLst>
              <a:ext uri="{FF2B5EF4-FFF2-40B4-BE49-F238E27FC236}">
                <a16:creationId xmlns:a16="http://schemas.microsoft.com/office/drawing/2014/main" id="{E944D696-84B1-99D7-19F5-E174BB2A052B}"/>
              </a:ext>
            </a:extLst>
          </p:cNvPr>
          <p:cNvSpPr txBox="1"/>
          <p:nvPr/>
        </p:nvSpPr>
        <p:spPr>
          <a:xfrm>
            <a:off x="1467852" y="4927519"/>
            <a:ext cx="6581273" cy="1477328"/>
          </a:xfrm>
          <a:prstGeom prst="rect">
            <a:avLst/>
          </a:prstGeom>
          <a:solidFill>
            <a:schemeClr val="bg2"/>
          </a:solidFill>
        </p:spPr>
        <p:txBody>
          <a:bodyPr wrap="square" rtlCol="0">
            <a:spAutoFit/>
          </a:bodyPr>
          <a:lstStyle/>
          <a:p>
            <a:r>
              <a:rPr lang="en-US" dirty="0" err="1"/>
              <a:t>agent.handle</a:t>
            </a:r>
            <a:r>
              <a:rPr lang="en-US" dirty="0"/>
              <a:t>(</a:t>
            </a:r>
            <a:r>
              <a:rPr lang="en-US" dirty="0">
                <a:solidFill>
                  <a:schemeClr val="accent6">
                    <a:lumMod val="75000"/>
                  </a:schemeClr>
                </a:solidFill>
              </a:rPr>
              <a:t>"Translate 'Hello' to French"</a:t>
            </a:r>
            <a:r>
              <a:rPr lang="en-US" dirty="0"/>
              <a:t>)</a:t>
            </a:r>
          </a:p>
          <a:p>
            <a:r>
              <a:rPr lang="en-US" dirty="0"/>
              <a:t># Stores: 'Hello' → 'Bonjour'</a:t>
            </a:r>
          </a:p>
          <a:p>
            <a:endParaRPr lang="en-US" dirty="0"/>
          </a:p>
          <a:p>
            <a:r>
              <a:rPr lang="en-US" dirty="0" err="1"/>
              <a:t>agent.handle</a:t>
            </a:r>
            <a:r>
              <a:rPr lang="en-US" dirty="0"/>
              <a:t>(</a:t>
            </a:r>
            <a:r>
              <a:rPr lang="en-US" dirty="0">
                <a:solidFill>
                  <a:schemeClr val="accent6">
                    <a:lumMod val="75000"/>
                  </a:schemeClr>
                </a:solidFill>
              </a:rPr>
              <a:t>"Now translate it to German"</a:t>
            </a:r>
            <a:r>
              <a:rPr lang="en-US" dirty="0"/>
              <a:t>)</a:t>
            </a:r>
          </a:p>
          <a:p>
            <a:r>
              <a:rPr lang="en-US" dirty="0"/>
              <a:t># Remembers context: 'Hello' → 'Hallo'</a:t>
            </a:r>
          </a:p>
        </p:txBody>
      </p:sp>
    </p:spTree>
    <p:extLst>
      <p:ext uri="{BB962C8B-B14F-4D97-AF65-F5344CB8AC3E}">
        <p14:creationId xmlns:p14="http://schemas.microsoft.com/office/powerpoint/2010/main" val="4143061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592C04-B197-5462-2C31-ABA5917B9CFB}"/>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B9B95139-C9DF-6F2A-8411-F68CAC52D7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FB6F39FA-A507-82B7-C989-E011C7BBD919}"/>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lang="en-IN" sz="2800" dirty="0">
                <a:solidFill>
                  <a:schemeClr val="bg1"/>
                </a:solidFill>
              </a:rPr>
              <a:t>🔧 Example:</a:t>
            </a:r>
            <a:endParaRPr kumimoji="0" lang="en-US" altLang="en-US" sz="2800" b="0" i="0" u="none" strike="noStrike" kern="1200" cap="none" normalizeH="0" baseline="0" dirty="0">
              <a:ln>
                <a:noFill/>
              </a:ln>
              <a:solidFill>
                <a:schemeClr val="bg1"/>
              </a:solidFill>
              <a:effectLst/>
              <a:latin typeface="+mj-lt"/>
              <a:ea typeface="+mj-ea"/>
              <a:cs typeface="+mj-cs"/>
            </a:endParaRPr>
          </a:p>
        </p:txBody>
      </p:sp>
      <p:sp>
        <p:nvSpPr>
          <p:cNvPr id="6" name="TextBox 5">
            <a:extLst>
              <a:ext uri="{FF2B5EF4-FFF2-40B4-BE49-F238E27FC236}">
                <a16:creationId xmlns:a16="http://schemas.microsoft.com/office/drawing/2014/main" id="{D81FD3BD-0727-926D-BD93-699627CB2736}"/>
              </a:ext>
            </a:extLst>
          </p:cNvPr>
          <p:cNvSpPr txBox="1"/>
          <p:nvPr/>
        </p:nvSpPr>
        <p:spPr>
          <a:xfrm>
            <a:off x="1051879" y="1823901"/>
            <a:ext cx="6098240" cy="369332"/>
          </a:xfrm>
          <a:prstGeom prst="rect">
            <a:avLst/>
          </a:prstGeom>
          <a:noFill/>
        </p:spPr>
        <p:txBody>
          <a:bodyPr wrap="square">
            <a:spAutoFit/>
          </a:bodyPr>
          <a:lstStyle/>
          <a:p>
            <a:r>
              <a:rPr lang="en-IN" b="1" dirty="0"/>
              <a:t>Stateless (Standard LLM):</a:t>
            </a:r>
            <a:endParaRPr lang="en-US" b="1" dirty="0"/>
          </a:p>
        </p:txBody>
      </p:sp>
      <p:sp>
        <p:nvSpPr>
          <p:cNvPr id="7" name="TextBox 6">
            <a:extLst>
              <a:ext uri="{FF2B5EF4-FFF2-40B4-BE49-F238E27FC236}">
                <a16:creationId xmlns:a16="http://schemas.microsoft.com/office/drawing/2014/main" id="{198C080D-E57E-A57D-5D2B-56008331CE7D}"/>
              </a:ext>
            </a:extLst>
          </p:cNvPr>
          <p:cNvSpPr txBox="1"/>
          <p:nvPr/>
        </p:nvSpPr>
        <p:spPr>
          <a:xfrm>
            <a:off x="1051879" y="4308302"/>
            <a:ext cx="6098240" cy="369332"/>
          </a:xfrm>
          <a:prstGeom prst="rect">
            <a:avLst/>
          </a:prstGeom>
          <a:noFill/>
        </p:spPr>
        <p:txBody>
          <a:bodyPr wrap="square">
            <a:spAutoFit/>
          </a:bodyPr>
          <a:lstStyle/>
          <a:p>
            <a:r>
              <a:rPr lang="en-IN" b="1" dirty="0"/>
              <a:t>Stateful (Agentic AI):</a:t>
            </a:r>
            <a:endParaRPr lang="en-US" b="1" dirty="0"/>
          </a:p>
        </p:txBody>
      </p:sp>
      <p:sp>
        <p:nvSpPr>
          <p:cNvPr id="8" name="TextBox 7">
            <a:extLst>
              <a:ext uri="{FF2B5EF4-FFF2-40B4-BE49-F238E27FC236}">
                <a16:creationId xmlns:a16="http://schemas.microsoft.com/office/drawing/2014/main" id="{D7C5F254-F3DE-D2BF-03DD-D8E3B68965B2}"/>
              </a:ext>
            </a:extLst>
          </p:cNvPr>
          <p:cNvSpPr txBox="1"/>
          <p:nvPr/>
        </p:nvSpPr>
        <p:spPr>
          <a:xfrm>
            <a:off x="1467853" y="2421885"/>
            <a:ext cx="6581273" cy="1477328"/>
          </a:xfrm>
          <a:prstGeom prst="rect">
            <a:avLst/>
          </a:prstGeom>
          <a:solidFill>
            <a:schemeClr val="bg2"/>
          </a:solidFill>
        </p:spPr>
        <p:txBody>
          <a:bodyPr wrap="square" rtlCol="0">
            <a:spAutoFit/>
          </a:bodyPr>
          <a:lstStyle/>
          <a:p>
            <a:r>
              <a:rPr lang="en-US" dirty="0" err="1"/>
              <a:t>llm.predict</a:t>
            </a:r>
            <a:r>
              <a:rPr lang="en-US" dirty="0"/>
              <a:t>(</a:t>
            </a:r>
            <a:r>
              <a:rPr lang="en-US" dirty="0">
                <a:solidFill>
                  <a:schemeClr val="accent6">
                    <a:lumMod val="75000"/>
                  </a:schemeClr>
                </a:solidFill>
              </a:rPr>
              <a:t>"Translate 'Hello' to French"</a:t>
            </a:r>
            <a:r>
              <a:rPr lang="en-US" dirty="0"/>
              <a:t>)</a:t>
            </a:r>
          </a:p>
          <a:p>
            <a:r>
              <a:rPr lang="en-US" dirty="0"/>
              <a:t># ➝ 'Bonjour’</a:t>
            </a:r>
          </a:p>
          <a:p>
            <a:endParaRPr lang="en-US" dirty="0"/>
          </a:p>
          <a:p>
            <a:r>
              <a:rPr lang="en-US" dirty="0" err="1"/>
              <a:t>llm.predict</a:t>
            </a:r>
            <a:r>
              <a:rPr lang="en-US" dirty="0"/>
              <a:t>(</a:t>
            </a:r>
            <a:r>
              <a:rPr lang="en-US" dirty="0">
                <a:solidFill>
                  <a:schemeClr val="accent6">
                    <a:lumMod val="75000"/>
                  </a:schemeClr>
                </a:solidFill>
              </a:rPr>
              <a:t>"Now translate it to German"</a:t>
            </a:r>
            <a:r>
              <a:rPr lang="en-US" dirty="0"/>
              <a:t>)</a:t>
            </a:r>
          </a:p>
          <a:p>
            <a:r>
              <a:rPr lang="en-US" dirty="0"/>
              <a:t># ➝ Doesn't know what 'it' is</a:t>
            </a:r>
          </a:p>
        </p:txBody>
      </p:sp>
      <p:sp>
        <p:nvSpPr>
          <p:cNvPr id="9" name="TextBox 8">
            <a:extLst>
              <a:ext uri="{FF2B5EF4-FFF2-40B4-BE49-F238E27FC236}">
                <a16:creationId xmlns:a16="http://schemas.microsoft.com/office/drawing/2014/main" id="{26147041-6C7A-99DD-332F-82F5294605B9}"/>
              </a:ext>
            </a:extLst>
          </p:cNvPr>
          <p:cNvSpPr txBox="1"/>
          <p:nvPr/>
        </p:nvSpPr>
        <p:spPr>
          <a:xfrm>
            <a:off x="1467852" y="4927519"/>
            <a:ext cx="6581273" cy="1477328"/>
          </a:xfrm>
          <a:prstGeom prst="rect">
            <a:avLst/>
          </a:prstGeom>
          <a:solidFill>
            <a:schemeClr val="bg2"/>
          </a:solidFill>
        </p:spPr>
        <p:txBody>
          <a:bodyPr wrap="square" rtlCol="0">
            <a:spAutoFit/>
          </a:bodyPr>
          <a:lstStyle/>
          <a:p>
            <a:r>
              <a:rPr lang="en-US" dirty="0" err="1"/>
              <a:t>agent.handle</a:t>
            </a:r>
            <a:r>
              <a:rPr lang="en-US" dirty="0"/>
              <a:t>(</a:t>
            </a:r>
            <a:r>
              <a:rPr lang="en-US" dirty="0">
                <a:solidFill>
                  <a:schemeClr val="accent6">
                    <a:lumMod val="75000"/>
                  </a:schemeClr>
                </a:solidFill>
              </a:rPr>
              <a:t>"Translate 'Hello' to French"</a:t>
            </a:r>
            <a:r>
              <a:rPr lang="en-US" dirty="0"/>
              <a:t>)</a:t>
            </a:r>
          </a:p>
          <a:p>
            <a:r>
              <a:rPr lang="en-US" dirty="0"/>
              <a:t># Stores: 'Hello' → 'Bonjour'</a:t>
            </a:r>
          </a:p>
          <a:p>
            <a:endParaRPr lang="en-US" dirty="0"/>
          </a:p>
          <a:p>
            <a:r>
              <a:rPr lang="en-US" dirty="0" err="1"/>
              <a:t>agent.handle</a:t>
            </a:r>
            <a:r>
              <a:rPr lang="en-US" dirty="0"/>
              <a:t>(</a:t>
            </a:r>
            <a:r>
              <a:rPr lang="en-US" dirty="0">
                <a:solidFill>
                  <a:schemeClr val="accent6">
                    <a:lumMod val="75000"/>
                  </a:schemeClr>
                </a:solidFill>
              </a:rPr>
              <a:t>"Now translate it to German"</a:t>
            </a:r>
            <a:r>
              <a:rPr lang="en-US" dirty="0"/>
              <a:t>)</a:t>
            </a:r>
          </a:p>
          <a:p>
            <a:r>
              <a:rPr lang="en-US" dirty="0"/>
              <a:t># Remembers context: 'Hello' → 'Hallo'</a:t>
            </a:r>
          </a:p>
        </p:txBody>
      </p:sp>
    </p:spTree>
    <p:extLst>
      <p:ext uri="{BB962C8B-B14F-4D97-AF65-F5344CB8AC3E}">
        <p14:creationId xmlns:p14="http://schemas.microsoft.com/office/powerpoint/2010/main" val="2637625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
            <a:extLst>
              <a:ext uri="{FF2B5EF4-FFF2-40B4-BE49-F238E27FC236}">
                <a16:creationId xmlns:a16="http://schemas.microsoft.com/office/drawing/2014/main" id="{EB755643-D6A7-9ECB-839F-F255DDAE163B}"/>
              </a:ext>
            </a:extLst>
          </p:cNvPr>
          <p:cNvSpPr>
            <a:spLocks noChangeArrowheads="1"/>
          </p:cNvSpPr>
          <p:nvPr/>
        </p:nvSpPr>
        <p:spPr bwMode="auto">
          <a:xfrm>
            <a:off x="1028700" y="1967266"/>
            <a:ext cx="2628900" cy="254725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endParaRPr kumimoji="0" lang="en-US" altLang="en-US" sz="3600" b="1" i="0" u="none" strike="noStrike" kern="1200" cap="none" normalizeH="0" baseline="0" dirty="0">
              <a:ln>
                <a:noFill/>
              </a:ln>
              <a:solidFill>
                <a:srgbClr val="FFFFFF"/>
              </a:solidFill>
              <a:effectLst/>
              <a:latin typeface="+mj-lt"/>
              <a:ea typeface="+mj-ea"/>
              <a:cs typeface="+mj-cs"/>
            </a:endParaRPr>
          </a:p>
          <a:p>
            <a:pPr marL="0" marR="0" lvl="0" indent="0" algn="ctr" fontAlgn="base">
              <a:lnSpc>
                <a:spcPct val="90000"/>
              </a:lnSpc>
              <a:spcBef>
                <a:spcPct val="0"/>
              </a:spcBef>
              <a:spcAft>
                <a:spcPts val="600"/>
              </a:spcAft>
              <a:buClrTx/>
              <a:buSzTx/>
              <a:tabLst/>
            </a:pPr>
            <a:r>
              <a:rPr kumimoji="0" lang="en-US" altLang="en-US" sz="3600" b="1" i="0" u="none" strike="noStrike" kern="1200" cap="none" normalizeH="0" baseline="0" dirty="0">
                <a:ln>
                  <a:noFill/>
                </a:ln>
                <a:solidFill>
                  <a:srgbClr val="FFFFFF"/>
                </a:solidFill>
                <a:effectLst/>
                <a:latin typeface="+mj-lt"/>
                <a:ea typeface="+mj-ea"/>
                <a:cs typeface="+mj-cs"/>
              </a:rPr>
              <a:t>High Level Architecture</a:t>
            </a:r>
          </a:p>
          <a:p>
            <a:pPr marL="0" marR="0" lvl="0" indent="0" algn="ctr" fontAlgn="base">
              <a:lnSpc>
                <a:spcPct val="90000"/>
              </a:lnSpc>
              <a:spcBef>
                <a:spcPct val="0"/>
              </a:spcBef>
              <a:spcAft>
                <a:spcPts val="600"/>
              </a:spcAft>
              <a:buClrTx/>
              <a:buSzTx/>
              <a:tabLst/>
            </a:pPr>
            <a:endParaRPr kumimoji="0" lang="en-US" altLang="en-US" sz="3600" b="0" i="0" u="none" strike="noStrike" kern="1200" cap="none" normalizeH="0" baseline="0" dirty="0">
              <a:ln>
                <a:noFill/>
              </a:ln>
              <a:solidFill>
                <a:srgbClr val="FFFFFF"/>
              </a:solidFill>
              <a:effectLst/>
              <a:latin typeface="+mj-lt"/>
              <a:ea typeface="+mj-ea"/>
              <a:cs typeface="+mj-cs"/>
            </a:endParaRPr>
          </a:p>
        </p:txBody>
      </p:sp>
      <p:pic>
        <p:nvPicPr>
          <p:cNvPr id="10243" name="Picture 3">
            <a:extLst>
              <a:ext uri="{FF2B5EF4-FFF2-40B4-BE49-F238E27FC236}">
                <a16:creationId xmlns:a16="http://schemas.microsoft.com/office/drawing/2014/main" id="{6E7C4B34-A6C6-B55C-C31A-13B5CC5EE59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23299" y="194695"/>
            <a:ext cx="5165479" cy="6663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01156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84B964-B23A-26B3-285D-F266E1460F43}"/>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F9A2183A-3C50-1868-C1F5-69E1400AD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00BA3ECB-71AB-7247-838F-6958541F6E1A}"/>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lang="en-IN" sz="2800" dirty="0">
                <a:solidFill>
                  <a:schemeClr val="bg1"/>
                </a:solidFill>
              </a:rPr>
              <a:t>🔧 Key Features of GenAI</a:t>
            </a:r>
            <a:endParaRPr kumimoji="0" lang="en-US" altLang="en-US" sz="2800" b="0" i="0" u="none" strike="noStrike" kern="1200" cap="none" normalizeH="0" baseline="0" dirty="0">
              <a:ln>
                <a:noFill/>
              </a:ln>
              <a:solidFill>
                <a:schemeClr val="bg1"/>
              </a:solidFill>
              <a:effectLst/>
              <a:latin typeface="+mj-lt"/>
              <a:ea typeface="+mj-ea"/>
              <a:cs typeface="+mj-cs"/>
            </a:endParaRPr>
          </a:p>
        </p:txBody>
      </p:sp>
      <p:sp>
        <p:nvSpPr>
          <p:cNvPr id="3" name="TextBox 2">
            <a:extLst>
              <a:ext uri="{FF2B5EF4-FFF2-40B4-BE49-F238E27FC236}">
                <a16:creationId xmlns:a16="http://schemas.microsoft.com/office/drawing/2014/main" id="{4BE06745-F3FE-682E-ED76-522C3216E734}"/>
              </a:ext>
            </a:extLst>
          </p:cNvPr>
          <p:cNvSpPr txBox="1"/>
          <p:nvPr/>
        </p:nvSpPr>
        <p:spPr>
          <a:xfrm>
            <a:off x="199465" y="1533465"/>
            <a:ext cx="11793070" cy="5324535"/>
          </a:xfrm>
          <a:prstGeom prst="rect">
            <a:avLst/>
          </a:prstGeom>
          <a:noFill/>
        </p:spPr>
        <p:txBody>
          <a:bodyPr wrap="square">
            <a:spAutoFit/>
          </a:bodyPr>
          <a:lstStyle/>
          <a:p>
            <a:pPr marL="285750" indent="-285750" algn="l" fontAlgn="base">
              <a:buFont typeface="Arial" panose="020B0604020202020204" pitchFamily="34" charset="0"/>
              <a:buChar char="•"/>
            </a:pPr>
            <a:r>
              <a:rPr lang="en-IN" sz="2000" b="1" i="0" dirty="0">
                <a:solidFill>
                  <a:srgbClr val="161616"/>
                </a:solidFill>
                <a:effectLst/>
                <a:latin typeface="inherit"/>
              </a:rPr>
              <a:t>Content creation: </a:t>
            </a:r>
            <a:r>
              <a:rPr lang="en-IN" sz="2000" b="0" i="0" dirty="0">
                <a:solidFill>
                  <a:srgbClr val="161616"/>
                </a:solidFill>
                <a:effectLst/>
                <a:latin typeface="inherit"/>
              </a:rPr>
              <a:t>Where gen AI excels is in content generation. The AI models can create coherent context like essays and answers to complex problems. AI applications, like OpenAI’s ChatGPT can generate answers, write lists, and give advice when prompted by user input. Using gen AI solutions to produce code can streamline software development and make it easier for developers of varying skill levels to write code.</a:t>
            </a:r>
          </a:p>
          <a:p>
            <a:pPr marL="285750" indent="-285750" algn="l" fontAlgn="base">
              <a:buFont typeface="Arial" panose="020B0604020202020204" pitchFamily="34" charset="0"/>
              <a:buChar char="•"/>
            </a:pPr>
            <a:endParaRPr lang="en-IN" sz="2000" b="0" i="0" dirty="0">
              <a:solidFill>
                <a:srgbClr val="161616"/>
              </a:solidFill>
              <a:effectLst/>
              <a:latin typeface="inherit"/>
            </a:endParaRPr>
          </a:p>
          <a:p>
            <a:pPr marL="285750" indent="-285750" algn="l" fontAlgn="base">
              <a:buFont typeface="Arial" panose="020B0604020202020204" pitchFamily="34" charset="0"/>
              <a:buChar char="•"/>
            </a:pPr>
            <a:r>
              <a:rPr lang="en-IN" sz="2000" b="1" i="0" dirty="0">
                <a:solidFill>
                  <a:srgbClr val="161616"/>
                </a:solidFill>
                <a:effectLst/>
                <a:latin typeface="inherit"/>
              </a:rPr>
              <a:t>Data analysis: </a:t>
            </a:r>
            <a:r>
              <a:rPr lang="en-IN" sz="2000" b="0" i="0" dirty="0">
                <a:solidFill>
                  <a:srgbClr val="161616"/>
                </a:solidFill>
                <a:effectLst/>
                <a:latin typeface="inherit"/>
              </a:rPr>
              <a:t>Generative AI can analyse vast amounts of data and use that analysis to discover patterns and trends. The gen AI models can streamline complex workflows, especially when it comes to the supply chain and drive a better customer experience.</a:t>
            </a:r>
          </a:p>
          <a:p>
            <a:pPr marL="285750" indent="-285750" algn="l" fontAlgn="base">
              <a:buFont typeface="Arial" panose="020B0604020202020204" pitchFamily="34" charset="0"/>
              <a:buChar char="•"/>
            </a:pPr>
            <a:endParaRPr lang="en-IN" sz="2000" b="0" i="0" dirty="0">
              <a:solidFill>
                <a:srgbClr val="161616"/>
              </a:solidFill>
              <a:effectLst/>
              <a:latin typeface="inherit"/>
            </a:endParaRPr>
          </a:p>
          <a:p>
            <a:pPr marL="285750" indent="-285750" algn="l" fontAlgn="base">
              <a:buFont typeface="Arial" panose="020B0604020202020204" pitchFamily="34" charset="0"/>
              <a:buChar char="•"/>
            </a:pPr>
            <a:r>
              <a:rPr lang="en-IN" sz="2000" b="1" i="0" dirty="0">
                <a:solidFill>
                  <a:srgbClr val="161616"/>
                </a:solidFill>
                <a:effectLst/>
                <a:latin typeface="inherit"/>
              </a:rPr>
              <a:t>Adaptability: </a:t>
            </a:r>
            <a:r>
              <a:rPr lang="en-IN" sz="2000" b="0" i="0" dirty="0">
                <a:solidFill>
                  <a:srgbClr val="161616"/>
                </a:solidFill>
                <a:effectLst/>
                <a:latin typeface="inherit"/>
              </a:rPr>
              <a:t>Gen AI can adapt its outputs based on the input it receives from the user. If the user is providing specific feedback to the model the outcome shifts to align more to what the user is seeking and in turn refine the output.</a:t>
            </a:r>
          </a:p>
          <a:p>
            <a:pPr marL="285750" indent="-285750" algn="l" fontAlgn="base">
              <a:buFont typeface="Arial" panose="020B0604020202020204" pitchFamily="34" charset="0"/>
              <a:buChar char="•"/>
            </a:pPr>
            <a:endParaRPr lang="en-IN" sz="2000" b="0" i="0" dirty="0">
              <a:solidFill>
                <a:srgbClr val="161616"/>
              </a:solidFill>
              <a:effectLst/>
              <a:latin typeface="inherit"/>
            </a:endParaRPr>
          </a:p>
          <a:p>
            <a:pPr marL="285750" indent="-285750" algn="l" fontAlgn="base">
              <a:buFont typeface="Arial" panose="020B0604020202020204" pitchFamily="34" charset="0"/>
              <a:buChar char="•"/>
            </a:pPr>
            <a:r>
              <a:rPr lang="en-IN" sz="2000" b="1" i="0" dirty="0">
                <a:solidFill>
                  <a:srgbClr val="161616"/>
                </a:solidFill>
                <a:effectLst/>
                <a:latin typeface="inherit"/>
              </a:rPr>
              <a:t>Personalization: </a:t>
            </a:r>
            <a:r>
              <a:rPr lang="en-IN" sz="2000" b="0" i="0" dirty="0">
                <a:solidFill>
                  <a:srgbClr val="161616"/>
                </a:solidFill>
                <a:effectLst/>
                <a:latin typeface="inherit"/>
              </a:rPr>
              <a:t>Gen AI technology can make personalized recommendations and experiences based on the inputs from the user. The retail industry has, for example, taken to highly personalized experiences for their customers thanks to gen AI technology that is helping them understand every detail of their customer preferences.</a:t>
            </a:r>
          </a:p>
        </p:txBody>
      </p:sp>
    </p:spTree>
    <p:extLst>
      <p:ext uri="{BB962C8B-B14F-4D97-AF65-F5344CB8AC3E}">
        <p14:creationId xmlns:p14="http://schemas.microsoft.com/office/powerpoint/2010/main" val="2856679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D70CB6-322D-DFBE-2591-6DA1E1168BD1}"/>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6E264716-3199-1B5C-3721-24FE1C2AA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8A87E01E-B403-99EA-CB34-374D063E66D6}"/>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lang="en-IN" sz="2800" dirty="0">
                <a:solidFill>
                  <a:schemeClr val="bg1"/>
                </a:solidFill>
              </a:rPr>
              <a:t>🔧 Key Features of Agentic AI</a:t>
            </a:r>
            <a:endParaRPr kumimoji="0" lang="en-US" altLang="en-US" sz="2800" b="0" i="0" u="none" strike="noStrike" kern="1200" cap="none" normalizeH="0" baseline="0" dirty="0">
              <a:ln>
                <a:noFill/>
              </a:ln>
              <a:solidFill>
                <a:schemeClr val="bg1"/>
              </a:solidFill>
              <a:effectLst/>
              <a:latin typeface="+mj-lt"/>
              <a:ea typeface="+mj-ea"/>
              <a:cs typeface="+mj-cs"/>
            </a:endParaRPr>
          </a:p>
        </p:txBody>
      </p:sp>
      <p:sp>
        <p:nvSpPr>
          <p:cNvPr id="3" name="TextBox 2">
            <a:extLst>
              <a:ext uri="{FF2B5EF4-FFF2-40B4-BE49-F238E27FC236}">
                <a16:creationId xmlns:a16="http://schemas.microsoft.com/office/drawing/2014/main" id="{FAAFDAE8-B4E3-D593-33ED-932C7A186523}"/>
              </a:ext>
            </a:extLst>
          </p:cNvPr>
          <p:cNvSpPr txBox="1"/>
          <p:nvPr/>
        </p:nvSpPr>
        <p:spPr>
          <a:xfrm>
            <a:off x="199465" y="1533465"/>
            <a:ext cx="11793070" cy="5324535"/>
          </a:xfrm>
          <a:prstGeom prst="rect">
            <a:avLst/>
          </a:prstGeom>
          <a:noFill/>
        </p:spPr>
        <p:txBody>
          <a:bodyPr wrap="square">
            <a:spAutoFit/>
          </a:bodyPr>
          <a:lstStyle/>
          <a:p>
            <a:pPr marL="342900" indent="-342900" algn="l" fontAlgn="base">
              <a:buFont typeface="Arial" panose="020B0604020202020204" pitchFamily="34" charset="0"/>
              <a:buChar char="•"/>
            </a:pPr>
            <a:r>
              <a:rPr lang="en-IN" sz="2000" b="1" i="0" dirty="0">
                <a:solidFill>
                  <a:srgbClr val="161616"/>
                </a:solidFill>
                <a:effectLst/>
                <a:latin typeface="inherit"/>
              </a:rPr>
              <a:t>Decision-making:</a:t>
            </a:r>
            <a:r>
              <a:rPr lang="en-IN" sz="2000" b="0" i="0" dirty="0">
                <a:solidFill>
                  <a:srgbClr val="161616"/>
                </a:solidFill>
                <a:effectLst/>
                <a:latin typeface="inherit"/>
              </a:rPr>
              <a:t> Because of the pre-defined plans and objectives these AI systems can assess situations and determine the path forward without or with minimal human input.</a:t>
            </a:r>
          </a:p>
          <a:p>
            <a:pPr marL="342900" indent="-342900" algn="l" fontAlgn="base">
              <a:buFont typeface="Arial" panose="020B0604020202020204" pitchFamily="34" charset="0"/>
              <a:buChar char="•"/>
            </a:pPr>
            <a:endParaRPr lang="en-IN" sz="2000" b="0" i="0" dirty="0">
              <a:solidFill>
                <a:srgbClr val="161616"/>
              </a:solidFill>
              <a:effectLst/>
              <a:latin typeface="inherit"/>
            </a:endParaRPr>
          </a:p>
          <a:p>
            <a:pPr marL="342900" indent="-342900" algn="l" fontAlgn="base">
              <a:buFont typeface="Arial" panose="020B0604020202020204" pitchFamily="34" charset="0"/>
              <a:buChar char="•"/>
            </a:pPr>
            <a:r>
              <a:rPr lang="en-IN" sz="2000" b="1" i="0" dirty="0">
                <a:solidFill>
                  <a:srgbClr val="161616"/>
                </a:solidFill>
                <a:effectLst/>
                <a:latin typeface="inherit"/>
              </a:rPr>
              <a:t>Problem-solving: </a:t>
            </a:r>
            <a:r>
              <a:rPr lang="en-IN" sz="2000" b="0" i="0" dirty="0">
                <a:solidFill>
                  <a:srgbClr val="161616"/>
                </a:solidFill>
                <a:effectLst/>
                <a:latin typeface="inherit"/>
              </a:rPr>
              <a:t>Agentic AI uses a four-step approach for solving issues; perceive, reason, act, and learn. These four steps start by having AI agents gather and process data. The LLM then acts as an orchestrator that analyses perceived data to understand the situation. And is then integrated with external tools that are continuously improving and learning through feedback.</a:t>
            </a:r>
          </a:p>
          <a:p>
            <a:pPr marL="342900" indent="-342900" algn="l" fontAlgn="base">
              <a:buFont typeface="Arial" panose="020B0604020202020204" pitchFamily="34" charset="0"/>
              <a:buChar char="•"/>
            </a:pPr>
            <a:endParaRPr lang="en-IN" sz="2000" b="0" i="0" dirty="0">
              <a:solidFill>
                <a:srgbClr val="161616"/>
              </a:solidFill>
              <a:effectLst/>
              <a:latin typeface="inherit"/>
            </a:endParaRPr>
          </a:p>
          <a:p>
            <a:pPr marL="342900" indent="-342900" algn="l" fontAlgn="base">
              <a:buFont typeface="Arial" panose="020B0604020202020204" pitchFamily="34" charset="0"/>
              <a:buChar char="•"/>
            </a:pPr>
            <a:r>
              <a:rPr lang="en-IN" sz="2000" b="1" i="0" dirty="0">
                <a:solidFill>
                  <a:srgbClr val="161616"/>
                </a:solidFill>
                <a:effectLst/>
                <a:latin typeface="inherit"/>
              </a:rPr>
              <a:t>Autonomy: </a:t>
            </a:r>
            <a:r>
              <a:rPr lang="en-IN" sz="2000" b="0" i="0" dirty="0">
                <a:solidFill>
                  <a:srgbClr val="161616"/>
                </a:solidFill>
                <a:effectLst/>
                <a:latin typeface="inherit"/>
              </a:rPr>
              <a:t>Autonomous behaviour defines agentic AI. It’s unique ability to learn and operate on its own make it a promising technology for organizations seeking to streamline workflows and have machines perform complex tasks with minimal human intervention.</a:t>
            </a:r>
          </a:p>
          <a:p>
            <a:pPr marL="342900" indent="-342900" algn="l" fontAlgn="base">
              <a:buFont typeface="Arial" panose="020B0604020202020204" pitchFamily="34" charset="0"/>
              <a:buChar char="•"/>
            </a:pPr>
            <a:endParaRPr lang="en-IN" sz="2000" b="0" i="0" dirty="0">
              <a:solidFill>
                <a:srgbClr val="161616"/>
              </a:solidFill>
              <a:effectLst/>
              <a:latin typeface="inherit"/>
            </a:endParaRPr>
          </a:p>
          <a:p>
            <a:pPr marL="342900" indent="-342900" algn="l" fontAlgn="base">
              <a:buFont typeface="Arial" panose="020B0604020202020204" pitchFamily="34" charset="0"/>
              <a:buChar char="•"/>
            </a:pPr>
            <a:r>
              <a:rPr lang="en-IN" sz="2000" b="1" i="0" dirty="0">
                <a:solidFill>
                  <a:srgbClr val="161616"/>
                </a:solidFill>
                <a:effectLst/>
                <a:latin typeface="inherit"/>
              </a:rPr>
              <a:t>Interactivity: </a:t>
            </a:r>
            <a:r>
              <a:rPr lang="en-IN" sz="2000" b="0" i="0" dirty="0">
                <a:solidFill>
                  <a:srgbClr val="161616"/>
                </a:solidFill>
                <a:effectLst/>
                <a:latin typeface="inherit"/>
              </a:rPr>
              <a:t>Due to its proactive nature, agentic AI can interact with the outside environment and gather data to adjust in real-time. One example is self-driving vehicles, which must constantly </a:t>
            </a:r>
            <a:r>
              <a:rPr lang="en-IN" sz="2000" b="0" i="0" dirty="0" err="1">
                <a:solidFill>
                  <a:srgbClr val="161616"/>
                </a:solidFill>
                <a:effectLst/>
                <a:latin typeface="inherit"/>
              </a:rPr>
              <a:t>analyze</a:t>
            </a:r>
            <a:r>
              <a:rPr lang="en-IN" sz="2000" b="0" i="0" dirty="0">
                <a:solidFill>
                  <a:srgbClr val="161616"/>
                </a:solidFill>
                <a:effectLst/>
                <a:latin typeface="inherit"/>
              </a:rPr>
              <a:t> its surroundings and make safe, accurate driving decisions.</a:t>
            </a:r>
          </a:p>
          <a:p>
            <a:pPr marL="342900" indent="-342900" algn="l" fontAlgn="base">
              <a:buFont typeface="Arial" panose="020B0604020202020204" pitchFamily="34" charset="0"/>
              <a:buChar char="•"/>
            </a:pPr>
            <a:r>
              <a:rPr lang="en-IN" sz="2000" b="1" i="0" dirty="0">
                <a:solidFill>
                  <a:srgbClr val="161616"/>
                </a:solidFill>
                <a:effectLst/>
                <a:latin typeface="inherit"/>
              </a:rPr>
              <a:t>Planning: </a:t>
            </a:r>
            <a:r>
              <a:rPr lang="en-IN" sz="2000" b="0" i="0" dirty="0">
                <a:solidFill>
                  <a:srgbClr val="161616"/>
                </a:solidFill>
                <a:effectLst/>
                <a:latin typeface="inherit"/>
              </a:rPr>
              <a:t>Agentic AI models can handle complex scenarios and execute multi-step strategies to achieve specific goals.</a:t>
            </a:r>
          </a:p>
        </p:txBody>
      </p:sp>
    </p:spTree>
    <p:extLst>
      <p:ext uri="{BB962C8B-B14F-4D97-AF65-F5344CB8AC3E}">
        <p14:creationId xmlns:p14="http://schemas.microsoft.com/office/powerpoint/2010/main" val="9494854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FE4EF6-25C4-C8E4-DCDE-52EDF021AF0C}"/>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946C33BF-8EA5-7366-621D-0802CC3272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7803F7F3-4602-E339-D828-4059ADDCEBB5}"/>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lang="en-IN" sz="2800" dirty="0" err="1">
                <a:solidFill>
                  <a:schemeClr val="bg1"/>
                </a:solidFill>
              </a:rPr>
              <a:t>Pydantic</a:t>
            </a:r>
            <a:r>
              <a:rPr lang="en-IN" sz="2800" dirty="0">
                <a:solidFill>
                  <a:schemeClr val="bg1"/>
                </a:solidFill>
              </a:rPr>
              <a:t>?</a:t>
            </a:r>
            <a:endParaRPr kumimoji="0" lang="en-US" altLang="en-US" sz="2800" b="0" i="0" u="none" strike="noStrike" kern="1200" cap="none" normalizeH="0" baseline="0" dirty="0">
              <a:ln>
                <a:noFill/>
              </a:ln>
              <a:solidFill>
                <a:schemeClr val="bg1"/>
              </a:solidFill>
              <a:effectLst/>
              <a:latin typeface="+mj-lt"/>
              <a:ea typeface="+mj-ea"/>
              <a:cs typeface="+mj-cs"/>
            </a:endParaRPr>
          </a:p>
        </p:txBody>
      </p:sp>
      <p:sp>
        <p:nvSpPr>
          <p:cNvPr id="3" name="TextBox 2">
            <a:extLst>
              <a:ext uri="{FF2B5EF4-FFF2-40B4-BE49-F238E27FC236}">
                <a16:creationId xmlns:a16="http://schemas.microsoft.com/office/drawing/2014/main" id="{A77A83E5-88FA-D6A8-FCE3-E534CC3F24A2}"/>
              </a:ext>
            </a:extLst>
          </p:cNvPr>
          <p:cNvSpPr txBox="1"/>
          <p:nvPr/>
        </p:nvSpPr>
        <p:spPr>
          <a:xfrm>
            <a:off x="1139637" y="1558130"/>
            <a:ext cx="9308728" cy="170104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400" dirty="0"/>
              <a:t>A data validation and settings management library.</a:t>
            </a:r>
          </a:p>
          <a:p>
            <a:pPr marL="285750" indent="-285750">
              <a:lnSpc>
                <a:spcPct val="150000"/>
              </a:lnSpc>
              <a:buFont typeface="Arial" panose="020B0604020202020204" pitchFamily="34" charset="0"/>
              <a:buChar char="•"/>
            </a:pPr>
            <a:r>
              <a:rPr lang="en-IN" sz="2400" dirty="0"/>
              <a:t>Built on Python type hints (uses </a:t>
            </a:r>
            <a:r>
              <a:rPr lang="en-IN" sz="2400" dirty="0" err="1"/>
              <a:t>dataclasses</a:t>
            </a:r>
            <a:r>
              <a:rPr lang="en-IN" sz="2400" dirty="0"/>
              <a:t> + typing).</a:t>
            </a:r>
          </a:p>
          <a:p>
            <a:pPr marL="285750" indent="-285750">
              <a:lnSpc>
                <a:spcPct val="150000"/>
              </a:lnSpc>
              <a:buFont typeface="Arial" panose="020B0604020202020204" pitchFamily="34" charset="0"/>
              <a:buChar char="•"/>
            </a:pPr>
            <a:r>
              <a:rPr lang="en-IN" sz="2400" dirty="0"/>
              <a:t>Fast, extensible, and integrates well with APIs, especially </a:t>
            </a:r>
            <a:r>
              <a:rPr lang="en-IN" sz="2400" dirty="0" err="1"/>
              <a:t>FastAPI</a:t>
            </a:r>
            <a:r>
              <a:rPr lang="en-IN" sz="2400" dirty="0"/>
              <a:t>.</a:t>
            </a:r>
          </a:p>
        </p:txBody>
      </p:sp>
      <p:sp>
        <p:nvSpPr>
          <p:cNvPr id="10" name="TextBox 9">
            <a:extLst>
              <a:ext uri="{FF2B5EF4-FFF2-40B4-BE49-F238E27FC236}">
                <a16:creationId xmlns:a16="http://schemas.microsoft.com/office/drawing/2014/main" id="{0EB3F848-2174-6ED0-D6B7-82FCCB4F1DAF}"/>
              </a:ext>
            </a:extLst>
          </p:cNvPr>
          <p:cNvSpPr txBox="1"/>
          <p:nvPr/>
        </p:nvSpPr>
        <p:spPr>
          <a:xfrm>
            <a:off x="1139637" y="3429000"/>
            <a:ext cx="9201150" cy="3363037"/>
          </a:xfrm>
          <a:prstGeom prst="rect">
            <a:avLst/>
          </a:prstGeom>
          <a:noFill/>
        </p:spPr>
        <p:txBody>
          <a:bodyPr wrap="square">
            <a:spAutoFit/>
          </a:bodyPr>
          <a:lstStyle/>
          <a:p>
            <a:pPr>
              <a:lnSpc>
                <a:spcPct val="150000"/>
              </a:lnSpc>
              <a:buNone/>
            </a:pPr>
            <a:r>
              <a:rPr lang="en-IN" sz="2400" b="1" dirty="0"/>
              <a:t>Key Features</a:t>
            </a:r>
          </a:p>
          <a:p>
            <a:pPr>
              <a:lnSpc>
                <a:spcPct val="150000"/>
              </a:lnSpc>
              <a:buFont typeface="Arial" panose="020B0604020202020204" pitchFamily="34" charset="0"/>
              <a:buChar char="•"/>
            </a:pPr>
            <a:r>
              <a:rPr lang="en-IN" sz="2400" b="1" dirty="0"/>
              <a:t>Type validation</a:t>
            </a:r>
            <a:r>
              <a:rPr lang="en-IN" sz="2400" dirty="0"/>
              <a:t> at runtime using Python 3.7+ type hints.</a:t>
            </a:r>
          </a:p>
          <a:p>
            <a:pPr>
              <a:lnSpc>
                <a:spcPct val="150000"/>
              </a:lnSpc>
              <a:buFont typeface="Arial" panose="020B0604020202020204" pitchFamily="34" charset="0"/>
              <a:buChar char="•"/>
            </a:pPr>
            <a:r>
              <a:rPr lang="en-IN" sz="2400" b="1" dirty="0"/>
              <a:t>Automatic data parsing</a:t>
            </a:r>
            <a:r>
              <a:rPr lang="en-IN" sz="2400" dirty="0"/>
              <a:t> (e.g., strings to numbers/dates).</a:t>
            </a:r>
          </a:p>
          <a:p>
            <a:pPr>
              <a:lnSpc>
                <a:spcPct val="150000"/>
              </a:lnSpc>
              <a:buFont typeface="Arial" panose="020B0604020202020204" pitchFamily="34" charset="0"/>
              <a:buChar char="•"/>
            </a:pPr>
            <a:r>
              <a:rPr lang="en-IN" sz="2400" b="1" dirty="0"/>
              <a:t>Error reporting</a:t>
            </a:r>
            <a:r>
              <a:rPr lang="en-IN" sz="2400" dirty="0"/>
              <a:t> with clear, structured messages.</a:t>
            </a:r>
          </a:p>
          <a:p>
            <a:pPr>
              <a:lnSpc>
                <a:spcPct val="150000"/>
              </a:lnSpc>
              <a:buFont typeface="Arial" panose="020B0604020202020204" pitchFamily="34" charset="0"/>
              <a:buChar char="•"/>
            </a:pPr>
            <a:r>
              <a:rPr lang="en-IN" sz="2400" b="1" dirty="0"/>
              <a:t>Built-in support</a:t>
            </a:r>
            <a:r>
              <a:rPr lang="en-IN" sz="2400" dirty="0"/>
              <a:t> for JSON serialization/deserialization.</a:t>
            </a:r>
          </a:p>
          <a:p>
            <a:pPr>
              <a:lnSpc>
                <a:spcPct val="150000"/>
              </a:lnSpc>
              <a:buFont typeface="Arial" panose="020B0604020202020204" pitchFamily="34" charset="0"/>
              <a:buChar char="•"/>
            </a:pPr>
            <a:r>
              <a:rPr lang="en-IN" sz="2400" dirty="0"/>
              <a:t>Supports </a:t>
            </a:r>
            <a:r>
              <a:rPr lang="en-IN" sz="2400" b="1" dirty="0"/>
              <a:t>default values, field constraints, nested models</a:t>
            </a:r>
            <a:r>
              <a:rPr lang="en-IN" sz="2400" dirty="0"/>
              <a:t>.</a:t>
            </a:r>
          </a:p>
        </p:txBody>
      </p:sp>
    </p:spTree>
    <p:extLst>
      <p:ext uri="{BB962C8B-B14F-4D97-AF65-F5344CB8AC3E}">
        <p14:creationId xmlns:p14="http://schemas.microsoft.com/office/powerpoint/2010/main" val="23123153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335D17-88D8-E24B-ED13-8C1343D65BF0}"/>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4066EFF6-AD9C-DB83-3F0B-09FBE6E39A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04405C5E-3E79-6E90-8269-F1894A939DA2}"/>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lang="en-IN" sz="2800" dirty="0">
                <a:solidFill>
                  <a:schemeClr val="bg1"/>
                </a:solidFill>
              </a:rPr>
              <a:t>Example</a:t>
            </a:r>
            <a:endParaRPr kumimoji="0" lang="en-US" altLang="en-US" sz="2800" b="0" i="0" u="none" strike="noStrike" kern="1200" cap="none" normalizeH="0" baseline="0" dirty="0">
              <a:ln>
                <a:noFill/>
              </a:ln>
              <a:solidFill>
                <a:schemeClr val="bg1"/>
              </a:solidFill>
              <a:effectLst/>
              <a:latin typeface="+mj-lt"/>
              <a:ea typeface="+mj-ea"/>
              <a:cs typeface="+mj-cs"/>
            </a:endParaRPr>
          </a:p>
        </p:txBody>
      </p:sp>
      <p:pic>
        <p:nvPicPr>
          <p:cNvPr id="2" name="Picture 1">
            <a:extLst>
              <a:ext uri="{FF2B5EF4-FFF2-40B4-BE49-F238E27FC236}">
                <a16:creationId xmlns:a16="http://schemas.microsoft.com/office/drawing/2014/main" id="{51E0295F-9DEB-981C-7494-E7336D4385EA}"/>
              </a:ext>
            </a:extLst>
          </p:cNvPr>
          <p:cNvPicPr>
            <a:picLocks noChangeAspect="1"/>
          </p:cNvPicPr>
          <p:nvPr/>
        </p:nvPicPr>
        <p:blipFill>
          <a:blip r:embed="rId2"/>
          <a:stretch>
            <a:fillRect/>
          </a:stretch>
        </p:blipFill>
        <p:spPr>
          <a:xfrm>
            <a:off x="2501900" y="2139950"/>
            <a:ext cx="7188200" cy="2578100"/>
          </a:xfrm>
          <a:prstGeom prst="rect">
            <a:avLst/>
          </a:prstGeom>
        </p:spPr>
      </p:pic>
    </p:spTree>
    <p:extLst>
      <p:ext uri="{BB962C8B-B14F-4D97-AF65-F5344CB8AC3E}">
        <p14:creationId xmlns:p14="http://schemas.microsoft.com/office/powerpoint/2010/main" val="15463892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54A084-617E-FDCC-808F-51C8ADA6377D}"/>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C073DF23-1A15-157E-849E-3A3E586AD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24960666-B527-5B9E-6BDA-A599940D0D4B}"/>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lang="en-IN" sz="2800" dirty="0">
                <a:solidFill>
                  <a:schemeClr val="bg1"/>
                </a:solidFill>
              </a:rPr>
              <a:t>Why Use </a:t>
            </a:r>
            <a:r>
              <a:rPr lang="en-IN" sz="2800" dirty="0" err="1">
                <a:solidFill>
                  <a:schemeClr val="bg1"/>
                </a:solidFill>
              </a:rPr>
              <a:t>Pydantic</a:t>
            </a:r>
            <a:r>
              <a:rPr lang="en-IN" sz="2800" dirty="0">
                <a:solidFill>
                  <a:schemeClr val="bg1"/>
                </a:solidFill>
              </a:rPr>
              <a:t>?</a:t>
            </a:r>
            <a:endParaRPr kumimoji="0" lang="en-US" altLang="en-US" sz="2800" b="0" i="0" u="none" strike="noStrike" kern="1200" cap="none" normalizeH="0" baseline="0" dirty="0">
              <a:ln>
                <a:noFill/>
              </a:ln>
              <a:solidFill>
                <a:schemeClr val="bg1"/>
              </a:solidFill>
              <a:effectLst/>
              <a:latin typeface="+mj-lt"/>
              <a:ea typeface="+mj-ea"/>
              <a:cs typeface="+mj-cs"/>
            </a:endParaRPr>
          </a:p>
        </p:txBody>
      </p:sp>
      <p:sp>
        <p:nvSpPr>
          <p:cNvPr id="4" name="TextBox 3">
            <a:extLst>
              <a:ext uri="{FF2B5EF4-FFF2-40B4-BE49-F238E27FC236}">
                <a16:creationId xmlns:a16="http://schemas.microsoft.com/office/drawing/2014/main" id="{3C7608D7-5DFD-7DB0-0BB8-42ED82450AE0}"/>
              </a:ext>
            </a:extLst>
          </p:cNvPr>
          <p:cNvSpPr txBox="1"/>
          <p:nvPr/>
        </p:nvSpPr>
        <p:spPr>
          <a:xfrm>
            <a:off x="930648" y="1866037"/>
            <a:ext cx="9100858" cy="2255041"/>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dirty="0"/>
              <a:t>Improves </a:t>
            </a:r>
            <a:r>
              <a:rPr lang="en-IN" sz="2400" b="1" dirty="0"/>
              <a:t>data integrity</a:t>
            </a:r>
            <a:r>
              <a:rPr lang="en-IN" sz="2400" dirty="0"/>
              <a:t> in APIs and applications.</a:t>
            </a:r>
          </a:p>
          <a:p>
            <a:pPr marL="342900" indent="-342900">
              <a:lnSpc>
                <a:spcPct val="150000"/>
              </a:lnSpc>
              <a:buFont typeface="Arial" panose="020B0604020202020204" pitchFamily="34" charset="0"/>
              <a:buChar char="•"/>
            </a:pPr>
            <a:r>
              <a:rPr lang="en-IN" sz="2400" dirty="0"/>
              <a:t>Replaces manual validation logic with </a:t>
            </a:r>
            <a:r>
              <a:rPr lang="en-IN" sz="2400" b="1" dirty="0"/>
              <a:t>declarative schemas</a:t>
            </a:r>
            <a:r>
              <a:rPr lang="en-IN" sz="2400" dirty="0"/>
              <a:t>.</a:t>
            </a:r>
          </a:p>
          <a:p>
            <a:pPr marL="342900" indent="-342900">
              <a:lnSpc>
                <a:spcPct val="150000"/>
              </a:lnSpc>
              <a:buFont typeface="Arial" panose="020B0604020202020204" pitchFamily="34" charset="0"/>
              <a:buChar char="•"/>
            </a:pPr>
            <a:r>
              <a:rPr lang="en-IN" sz="2400" dirty="0"/>
              <a:t>Simplifies </a:t>
            </a:r>
            <a:r>
              <a:rPr lang="en-IN" sz="2400" b="1" dirty="0"/>
              <a:t>config handling</a:t>
            </a:r>
            <a:r>
              <a:rPr lang="en-IN" sz="2400" dirty="0"/>
              <a:t> via </a:t>
            </a:r>
            <a:r>
              <a:rPr lang="en-IN" sz="2400" dirty="0" err="1"/>
              <a:t>BaseSettings</a:t>
            </a:r>
            <a:r>
              <a:rPr lang="en-IN" sz="2400" dirty="0"/>
              <a:t>.</a:t>
            </a:r>
          </a:p>
          <a:p>
            <a:pPr marL="342900" indent="-342900">
              <a:lnSpc>
                <a:spcPct val="150000"/>
              </a:lnSpc>
              <a:buFont typeface="Arial" panose="020B0604020202020204" pitchFamily="34" charset="0"/>
              <a:buChar char="•"/>
            </a:pPr>
            <a:r>
              <a:rPr lang="en-IN" sz="2400" dirty="0"/>
              <a:t>Widely used in modern frameworks like </a:t>
            </a:r>
            <a:r>
              <a:rPr lang="en-IN" sz="2400" b="1" dirty="0" err="1"/>
              <a:t>FastAPI</a:t>
            </a:r>
            <a:r>
              <a:rPr lang="en-IN" sz="2400" dirty="0"/>
              <a:t>, </a:t>
            </a:r>
            <a:r>
              <a:rPr lang="en-IN" sz="2400" b="1" dirty="0" err="1"/>
              <a:t>LangChain</a:t>
            </a:r>
            <a:r>
              <a:rPr lang="en-IN" sz="2400" dirty="0"/>
              <a:t>, etc.</a:t>
            </a:r>
          </a:p>
        </p:txBody>
      </p:sp>
    </p:spTree>
    <p:extLst>
      <p:ext uri="{BB962C8B-B14F-4D97-AF65-F5344CB8AC3E}">
        <p14:creationId xmlns:p14="http://schemas.microsoft.com/office/powerpoint/2010/main" val="1572017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ABA888-3F59-1D31-1092-A083EA579E69}"/>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061B790C-08CF-B980-CB94-33F37C4267D2}"/>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lang="en-US" sz="3200" kern="1200">
                <a:solidFill>
                  <a:schemeClr val="bg1"/>
                </a:solidFill>
                <a:latin typeface="+mj-lt"/>
                <a:ea typeface="+mj-ea"/>
                <a:cs typeface="+mj-cs"/>
              </a:rPr>
              <a:t>Important Components of Langchain</a:t>
            </a:r>
            <a:endParaRPr kumimoji="0" lang="en-US" altLang="en-US" sz="3200" b="0" i="0" u="none" strike="noStrike" kern="1200" cap="none" normalizeH="0" baseline="0">
              <a:ln>
                <a:noFill/>
              </a:ln>
              <a:solidFill>
                <a:schemeClr val="bg1"/>
              </a:solidFill>
              <a:effectLst/>
              <a:latin typeface="+mj-lt"/>
              <a:ea typeface="+mj-ea"/>
              <a:cs typeface="+mj-cs"/>
            </a:endParaRPr>
          </a:p>
        </p:txBody>
      </p:sp>
      <p:pic>
        <p:nvPicPr>
          <p:cNvPr id="2" name="Picture 1">
            <a:extLst>
              <a:ext uri="{FF2B5EF4-FFF2-40B4-BE49-F238E27FC236}">
                <a16:creationId xmlns:a16="http://schemas.microsoft.com/office/drawing/2014/main" id="{008D0FFB-DD9E-B960-9551-D7489076F09D}"/>
              </a:ext>
            </a:extLst>
          </p:cNvPr>
          <p:cNvPicPr>
            <a:picLocks noChangeAspect="1"/>
          </p:cNvPicPr>
          <p:nvPr/>
        </p:nvPicPr>
        <p:blipFill>
          <a:blip r:embed="rId2"/>
          <a:stretch>
            <a:fillRect/>
          </a:stretch>
        </p:blipFill>
        <p:spPr>
          <a:xfrm>
            <a:off x="887437" y="2159321"/>
            <a:ext cx="9986821" cy="4394199"/>
          </a:xfrm>
          <a:prstGeom prst="rect">
            <a:avLst/>
          </a:prstGeom>
        </p:spPr>
      </p:pic>
      <p:sp>
        <p:nvSpPr>
          <p:cNvPr id="3" name="TextBox 2">
            <a:extLst>
              <a:ext uri="{FF2B5EF4-FFF2-40B4-BE49-F238E27FC236}">
                <a16:creationId xmlns:a16="http://schemas.microsoft.com/office/drawing/2014/main" id="{A4F7E141-0468-AC5A-4C01-6FEB3183F86E}"/>
              </a:ext>
            </a:extLst>
          </p:cNvPr>
          <p:cNvSpPr txBox="1"/>
          <p:nvPr/>
        </p:nvSpPr>
        <p:spPr>
          <a:xfrm>
            <a:off x="1331260" y="1603793"/>
            <a:ext cx="1411027" cy="369332"/>
          </a:xfrm>
          <a:prstGeom prst="rect">
            <a:avLst/>
          </a:prstGeom>
          <a:noFill/>
        </p:spPr>
        <p:txBody>
          <a:bodyPr wrap="none" rtlCol="0">
            <a:spAutoFit/>
          </a:bodyPr>
          <a:lstStyle/>
          <a:p>
            <a:r>
              <a:rPr lang="en-US" dirty="0"/>
              <a:t>Data Source</a:t>
            </a:r>
          </a:p>
        </p:txBody>
      </p:sp>
      <p:sp>
        <p:nvSpPr>
          <p:cNvPr id="4" name="TextBox 3">
            <a:extLst>
              <a:ext uri="{FF2B5EF4-FFF2-40B4-BE49-F238E27FC236}">
                <a16:creationId xmlns:a16="http://schemas.microsoft.com/office/drawing/2014/main" id="{07D9A21F-A5C0-0467-902C-BB1353CC9BCA}"/>
              </a:ext>
            </a:extLst>
          </p:cNvPr>
          <p:cNvSpPr txBox="1"/>
          <p:nvPr/>
        </p:nvSpPr>
        <p:spPr>
          <a:xfrm>
            <a:off x="3668190" y="1603793"/>
            <a:ext cx="2212657" cy="369332"/>
          </a:xfrm>
          <a:prstGeom prst="rect">
            <a:avLst/>
          </a:prstGeom>
          <a:noFill/>
        </p:spPr>
        <p:txBody>
          <a:bodyPr wrap="none" rtlCol="0">
            <a:spAutoFit/>
          </a:bodyPr>
          <a:lstStyle/>
          <a:p>
            <a:r>
              <a:rPr lang="en-US" dirty="0"/>
              <a:t>Data Transformation</a:t>
            </a:r>
          </a:p>
        </p:txBody>
      </p:sp>
      <p:sp>
        <p:nvSpPr>
          <p:cNvPr id="10" name="TextBox 9">
            <a:extLst>
              <a:ext uri="{FF2B5EF4-FFF2-40B4-BE49-F238E27FC236}">
                <a16:creationId xmlns:a16="http://schemas.microsoft.com/office/drawing/2014/main" id="{923DA0EF-EE71-D9A4-1912-F9A30AC27CCC}"/>
              </a:ext>
            </a:extLst>
          </p:cNvPr>
          <p:cNvSpPr txBox="1"/>
          <p:nvPr/>
        </p:nvSpPr>
        <p:spPr>
          <a:xfrm>
            <a:off x="6363701" y="1603793"/>
            <a:ext cx="1314784" cy="369332"/>
          </a:xfrm>
          <a:prstGeom prst="rect">
            <a:avLst/>
          </a:prstGeom>
          <a:noFill/>
        </p:spPr>
        <p:txBody>
          <a:bodyPr wrap="none" rtlCol="0">
            <a:spAutoFit/>
          </a:bodyPr>
          <a:lstStyle/>
          <a:p>
            <a:r>
              <a:rPr lang="en-US" dirty="0"/>
              <a:t>Embedding</a:t>
            </a:r>
          </a:p>
        </p:txBody>
      </p:sp>
      <p:sp>
        <p:nvSpPr>
          <p:cNvPr id="11" name="TextBox 10">
            <a:extLst>
              <a:ext uri="{FF2B5EF4-FFF2-40B4-BE49-F238E27FC236}">
                <a16:creationId xmlns:a16="http://schemas.microsoft.com/office/drawing/2014/main" id="{04834EC2-28CD-503E-6077-0E8997B38CBF}"/>
              </a:ext>
            </a:extLst>
          </p:cNvPr>
          <p:cNvSpPr txBox="1"/>
          <p:nvPr/>
        </p:nvSpPr>
        <p:spPr>
          <a:xfrm>
            <a:off x="8802101" y="1603793"/>
            <a:ext cx="1701876" cy="369332"/>
          </a:xfrm>
          <a:prstGeom prst="rect">
            <a:avLst/>
          </a:prstGeom>
          <a:noFill/>
        </p:spPr>
        <p:txBody>
          <a:bodyPr wrap="none" rtlCol="0">
            <a:spAutoFit/>
          </a:bodyPr>
          <a:lstStyle/>
          <a:p>
            <a:r>
              <a:rPr lang="en-US" dirty="0" err="1"/>
              <a:t>VectorStore</a:t>
            </a:r>
            <a:r>
              <a:rPr lang="en-US" dirty="0"/>
              <a:t> DB</a:t>
            </a:r>
          </a:p>
        </p:txBody>
      </p:sp>
      <p:sp>
        <p:nvSpPr>
          <p:cNvPr id="12" name="TextBox 11">
            <a:extLst>
              <a:ext uri="{FF2B5EF4-FFF2-40B4-BE49-F238E27FC236}">
                <a16:creationId xmlns:a16="http://schemas.microsoft.com/office/drawing/2014/main" id="{FCFAB3E2-A021-D6D0-CA8E-AF04AFE630F6}"/>
              </a:ext>
            </a:extLst>
          </p:cNvPr>
          <p:cNvSpPr txBox="1"/>
          <p:nvPr/>
        </p:nvSpPr>
        <p:spPr>
          <a:xfrm>
            <a:off x="10896670" y="2159321"/>
            <a:ext cx="1334724" cy="830997"/>
          </a:xfrm>
          <a:prstGeom prst="rect">
            <a:avLst/>
          </a:prstGeom>
          <a:noFill/>
        </p:spPr>
        <p:txBody>
          <a:bodyPr wrap="none" rtlCol="0">
            <a:spAutoFit/>
          </a:bodyPr>
          <a:lstStyle/>
          <a:p>
            <a:r>
              <a:rPr lang="en-US" sz="1600" dirty="0"/>
              <a:t>FAISS</a:t>
            </a:r>
          </a:p>
          <a:p>
            <a:r>
              <a:rPr lang="en-US" sz="1600" dirty="0"/>
              <a:t>CHROMA DB</a:t>
            </a:r>
          </a:p>
          <a:p>
            <a:r>
              <a:rPr lang="en-US" sz="1600" dirty="0"/>
              <a:t>ASTRA DB</a:t>
            </a:r>
          </a:p>
        </p:txBody>
      </p:sp>
    </p:spTree>
    <p:extLst>
      <p:ext uri="{BB962C8B-B14F-4D97-AF65-F5344CB8AC3E}">
        <p14:creationId xmlns:p14="http://schemas.microsoft.com/office/powerpoint/2010/main" val="1274101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0" grpId="0"/>
      <p:bldP spid="11" grpId="0"/>
      <p:bldP spid="12" grpId="0"/>
      <p:bldP spid="12" grpId="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30DD2F-2847-9D56-1738-C7A727E48A23}"/>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5C4CB80E-27D7-6DD0-EB0D-97D57AF9F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61E711D8-8983-C3DA-3E3D-BADE3C8FF279}"/>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lang="en-US" sz="3200" kern="1200">
                <a:solidFill>
                  <a:schemeClr val="bg1"/>
                </a:solidFill>
                <a:latin typeface="+mj-lt"/>
                <a:ea typeface="+mj-ea"/>
                <a:cs typeface="+mj-cs"/>
              </a:rPr>
              <a:t>Important Components of Langchain</a:t>
            </a:r>
            <a:endParaRPr kumimoji="0" lang="en-US" altLang="en-US" sz="3200" b="0" i="0" u="none" strike="noStrike" kern="1200" cap="none" normalizeH="0" baseline="0">
              <a:ln>
                <a:noFill/>
              </a:ln>
              <a:solidFill>
                <a:schemeClr val="bg1"/>
              </a:solidFill>
              <a:effectLst/>
              <a:latin typeface="+mj-lt"/>
              <a:ea typeface="+mj-ea"/>
              <a:cs typeface="+mj-cs"/>
            </a:endParaRPr>
          </a:p>
        </p:txBody>
      </p:sp>
      <p:pic>
        <p:nvPicPr>
          <p:cNvPr id="2" name="Picture 1">
            <a:extLst>
              <a:ext uri="{FF2B5EF4-FFF2-40B4-BE49-F238E27FC236}">
                <a16:creationId xmlns:a16="http://schemas.microsoft.com/office/drawing/2014/main" id="{B8A72E74-9415-9976-234C-333B018EB5BE}"/>
              </a:ext>
            </a:extLst>
          </p:cNvPr>
          <p:cNvPicPr>
            <a:picLocks noChangeAspect="1"/>
          </p:cNvPicPr>
          <p:nvPr/>
        </p:nvPicPr>
        <p:blipFill>
          <a:blip r:embed="rId2"/>
          <a:stretch>
            <a:fillRect/>
          </a:stretch>
        </p:blipFill>
        <p:spPr>
          <a:xfrm>
            <a:off x="887437" y="2159321"/>
            <a:ext cx="9986821" cy="4394199"/>
          </a:xfrm>
          <a:prstGeom prst="rect">
            <a:avLst/>
          </a:prstGeom>
        </p:spPr>
      </p:pic>
      <p:sp>
        <p:nvSpPr>
          <p:cNvPr id="3" name="TextBox 2">
            <a:extLst>
              <a:ext uri="{FF2B5EF4-FFF2-40B4-BE49-F238E27FC236}">
                <a16:creationId xmlns:a16="http://schemas.microsoft.com/office/drawing/2014/main" id="{8859CF88-737B-2C3F-4B19-249A63C75873}"/>
              </a:ext>
            </a:extLst>
          </p:cNvPr>
          <p:cNvSpPr txBox="1"/>
          <p:nvPr/>
        </p:nvSpPr>
        <p:spPr>
          <a:xfrm>
            <a:off x="1331260" y="1603793"/>
            <a:ext cx="1411027" cy="369332"/>
          </a:xfrm>
          <a:prstGeom prst="rect">
            <a:avLst/>
          </a:prstGeom>
          <a:noFill/>
        </p:spPr>
        <p:txBody>
          <a:bodyPr wrap="none" rtlCol="0">
            <a:spAutoFit/>
          </a:bodyPr>
          <a:lstStyle/>
          <a:p>
            <a:r>
              <a:rPr lang="en-US" dirty="0"/>
              <a:t>Data Source</a:t>
            </a:r>
          </a:p>
        </p:txBody>
      </p:sp>
      <p:sp>
        <p:nvSpPr>
          <p:cNvPr id="4" name="TextBox 3">
            <a:extLst>
              <a:ext uri="{FF2B5EF4-FFF2-40B4-BE49-F238E27FC236}">
                <a16:creationId xmlns:a16="http://schemas.microsoft.com/office/drawing/2014/main" id="{DB96F0F6-E7B3-82EE-9B2D-0B3B9BE164EE}"/>
              </a:ext>
            </a:extLst>
          </p:cNvPr>
          <p:cNvSpPr txBox="1"/>
          <p:nvPr/>
        </p:nvSpPr>
        <p:spPr>
          <a:xfrm>
            <a:off x="3668190" y="1603793"/>
            <a:ext cx="2212657" cy="369332"/>
          </a:xfrm>
          <a:prstGeom prst="rect">
            <a:avLst/>
          </a:prstGeom>
          <a:noFill/>
        </p:spPr>
        <p:txBody>
          <a:bodyPr wrap="none" rtlCol="0">
            <a:spAutoFit/>
          </a:bodyPr>
          <a:lstStyle/>
          <a:p>
            <a:r>
              <a:rPr lang="en-US" dirty="0"/>
              <a:t>Data Transformation</a:t>
            </a:r>
          </a:p>
        </p:txBody>
      </p:sp>
      <p:sp>
        <p:nvSpPr>
          <p:cNvPr id="10" name="TextBox 9">
            <a:extLst>
              <a:ext uri="{FF2B5EF4-FFF2-40B4-BE49-F238E27FC236}">
                <a16:creationId xmlns:a16="http://schemas.microsoft.com/office/drawing/2014/main" id="{0FC469B4-7601-4362-F487-54139D58F430}"/>
              </a:ext>
            </a:extLst>
          </p:cNvPr>
          <p:cNvSpPr txBox="1"/>
          <p:nvPr/>
        </p:nvSpPr>
        <p:spPr>
          <a:xfrm>
            <a:off x="6363701" y="1603793"/>
            <a:ext cx="1314784" cy="369332"/>
          </a:xfrm>
          <a:prstGeom prst="rect">
            <a:avLst/>
          </a:prstGeom>
          <a:noFill/>
        </p:spPr>
        <p:txBody>
          <a:bodyPr wrap="none" rtlCol="0">
            <a:spAutoFit/>
          </a:bodyPr>
          <a:lstStyle/>
          <a:p>
            <a:r>
              <a:rPr lang="en-US" dirty="0"/>
              <a:t>Embedding</a:t>
            </a:r>
          </a:p>
        </p:txBody>
      </p:sp>
      <p:sp>
        <p:nvSpPr>
          <p:cNvPr id="11" name="TextBox 10">
            <a:extLst>
              <a:ext uri="{FF2B5EF4-FFF2-40B4-BE49-F238E27FC236}">
                <a16:creationId xmlns:a16="http://schemas.microsoft.com/office/drawing/2014/main" id="{39463534-9EE7-7C65-8345-2BB2AF544A26}"/>
              </a:ext>
            </a:extLst>
          </p:cNvPr>
          <p:cNvSpPr txBox="1"/>
          <p:nvPr/>
        </p:nvSpPr>
        <p:spPr>
          <a:xfrm>
            <a:off x="8802101" y="1603793"/>
            <a:ext cx="1701876" cy="369332"/>
          </a:xfrm>
          <a:prstGeom prst="rect">
            <a:avLst/>
          </a:prstGeom>
          <a:noFill/>
        </p:spPr>
        <p:txBody>
          <a:bodyPr wrap="none" rtlCol="0">
            <a:spAutoFit/>
          </a:bodyPr>
          <a:lstStyle/>
          <a:p>
            <a:r>
              <a:rPr lang="en-US" dirty="0" err="1"/>
              <a:t>VectorStore</a:t>
            </a:r>
            <a:r>
              <a:rPr lang="en-US" dirty="0"/>
              <a:t> DB</a:t>
            </a:r>
          </a:p>
        </p:txBody>
      </p:sp>
      <p:sp>
        <p:nvSpPr>
          <p:cNvPr id="14" name="Rectangle 13">
            <a:extLst>
              <a:ext uri="{FF2B5EF4-FFF2-40B4-BE49-F238E27FC236}">
                <a16:creationId xmlns:a16="http://schemas.microsoft.com/office/drawing/2014/main" id="{74FD79F7-E18C-66DD-C11A-F2545D2563C4}"/>
              </a:ext>
            </a:extLst>
          </p:cNvPr>
          <p:cNvSpPr/>
          <p:nvPr/>
        </p:nvSpPr>
        <p:spPr>
          <a:xfrm>
            <a:off x="1035424" y="2514600"/>
            <a:ext cx="2124635" cy="3429000"/>
          </a:xfrm>
          <a:prstGeom prst="rect">
            <a:avLst/>
          </a:prstGeom>
          <a:noFill/>
          <a:ln>
            <a:solidFill>
              <a:schemeClr val="bg1"/>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6803763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C86861-51F6-CECE-96B0-A26196C907B2}"/>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156E8615-6B8E-CD45-64CD-E5EAF6541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45119F60-F7C5-A3F1-E854-F1844568FF9A}"/>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lang="en-US" sz="3200" kern="1200">
                <a:solidFill>
                  <a:schemeClr val="bg1"/>
                </a:solidFill>
                <a:latin typeface="+mj-lt"/>
                <a:ea typeface="+mj-ea"/>
                <a:cs typeface="+mj-cs"/>
              </a:rPr>
              <a:t>Important Components of Langchain</a:t>
            </a:r>
            <a:endParaRPr kumimoji="0" lang="en-US" altLang="en-US" sz="3200" b="0" i="0" u="none" strike="noStrike" kern="1200" cap="none" normalizeH="0" baseline="0">
              <a:ln>
                <a:noFill/>
              </a:ln>
              <a:solidFill>
                <a:schemeClr val="bg1"/>
              </a:solidFill>
              <a:effectLst/>
              <a:latin typeface="+mj-lt"/>
              <a:ea typeface="+mj-ea"/>
              <a:cs typeface="+mj-cs"/>
            </a:endParaRPr>
          </a:p>
        </p:txBody>
      </p:sp>
      <p:pic>
        <p:nvPicPr>
          <p:cNvPr id="2" name="Picture 1">
            <a:extLst>
              <a:ext uri="{FF2B5EF4-FFF2-40B4-BE49-F238E27FC236}">
                <a16:creationId xmlns:a16="http://schemas.microsoft.com/office/drawing/2014/main" id="{84C8D20D-EA70-2B10-FEA1-721CD62E4C11}"/>
              </a:ext>
            </a:extLst>
          </p:cNvPr>
          <p:cNvPicPr>
            <a:picLocks noChangeAspect="1"/>
          </p:cNvPicPr>
          <p:nvPr/>
        </p:nvPicPr>
        <p:blipFill>
          <a:blip r:embed="rId2"/>
          <a:stretch>
            <a:fillRect/>
          </a:stretch>
        </p:blipFill>
        <p:spPr>
          <a:xfrm>
            <a:off x="887437" y="2159321"/>
            <a:ext cx="9986821" cy="4394199"/>
          </a:xfrm>
          <a:prstGeom prst="rect">
            <a:avLst/>
          </a:prstGeom>
        </p:spPr>
      </p:pic>
      <p:sp>
        <p:nvSpPr>
          <p:cNvPr id="3" name="TextBox 2">
            <a:extLst>
              <a:ext uri="{FF2B5EF4-FFF2-40B4-BE49-F238E27FC236}">
                <a16:creationId xmlns:a16="http://schemas.microsoft.com/office/drawing/2014/main" id="{CBBD6502-93AB-0669-8FC6-6516C4AB0C06}"/>
              </a:ext>
            </a:extLst>
          </p:cNvPr>
          <p:cNvSpPr txBox="1"/>
          <p:nvPr/>
        </p:nvSpPr>
        <p:spPr>
          <a:xfrm>
            <a:off x="1331260" y="1603793"/>
            <a:ext cx="1411027" cy="369332"/>
          </a:xfrm>
          <a:prstGeom prst="rect">
            <a:avLst/>
          </a:prstGeom>
          <a:noFill/>
        </p:spPr>
        <p:txBody>
          <a:bodyPr wrap="none" rtlCol="0">
            <a:spAutoFit/>
          </a:bodyPr>
          <a:lstStyle/>
          <a:p>
            <a:r>
              <a:rPr lang="en-US" dirty="0"/>
              <a:t>Data Source</a:t>
            </a:r>
          </a:p>
        </p:txBody>
      </p:sp>
      <p:sp>
        <p:nvSpPr>
          <p:cNvPr id="4" name="TextBox 3">
            <a:extLst>
              <a:ext uri="{FF2B5EF4-FFF2-40B4-BE49-F238E27FC236}">
                <a16:creationId xmlns:a16="http://schemas.microsoft.com/office/drawing/2014/main" id="{A6402DA9-3DF9-A7AA-C991-DA67A305AC93}"/>
              </a:ext>
            </a:extLst>
          </p:cNvPr>
          <p:cNvSpPr txBox="1"/>
          <p:nvPr/>
        </p:nvSpPr>
        <p:spPr>
          <a:xfrm>
            <a:off x="3668190" y="1603793"/>
            <a:ext cx="2212657" cy="369332"/>
          </a:xfrm>
          <a:prstGeom prst="rect">
            <a:avLst/>
          </a:prstGeom>
          <a:noFill/>
        </p:spPr>
        <p:txBody>
          <a:bodyPr wrap="none" rtlCol="0">
            <a:spAutoFit/>
          </a:bodyPr>
          <a:lstStyle/>
          <a:p>
            <a:r>
              <a:rPr lang="en-US" dirty="0"/>
              <a:t>Data Transformation</a:t>
            </a:r>
          </a:p>
        </p:txBody>
      </p:sp>
      <p:sp>
        <p:nvSpPr>
          <p:cNvPr id="10" name="TextBox 9">
            <a:extLst>
              <a:ext uri="{FF2B5EF4-FFF2-40B4-BE49-F238E27FC236}">
                <a16:creationId xmlns:a16="http://schemas.microsoft.com/office/drawing/2014/main" id="{807E7D9E-2A5B-F250-3365-97DAB71B5CDF}"/>
              </a:ext>
            </a:extLst>
          </p:cNvPr>
          <p:cNvSpPr txBox="1"/>
          <p:nvPr/>
        </p:nvSpPr>
        <p:spPr>
          <a:xfrm>
            <a:off x="6363701" y="1603793"/>
            <a:ext cx="1314784" cy="369332"/>
          </a:xfrm>
          <a:prstGeom prst="rect">
            <a:avLst/>
          </a:prstGeom>
          <a:noFill/>
        </p:spPr>
        <p:txBody>
          <a:bodyPr wrap="none" rtlCol="0">
            <a:spAutoFit/>
          </a:bodyPr>
          <a:lstStyle/>
          <a:p>
            <a:r>
              <a:rPr lang="en-US" dirty="0"/>
              <a:t>Embedding</a:t>
            </a:r>
          </a:p>
        </p:txBody>
      </p:sp>
      <p:sp>
        <p:nvSpPr>
          <p:cNvPr id="11" name="TextBox 10">
            <a:extLst>
              <a:ext uri="{FF2B5EF4-FFF2-40B4-BE49-F238E27FC236}">
                <a16:creationId xmlns:a16="http://schemas.microsoft.com/office/drawing/2014/main" id="{312F13E4-F01D-F766-748A-76ADDCBB9130}"/>
              </a:ext>
            </a:extLst>
          </p:cNvPr>
          <p:cNvSpPr txBox="1"/>
          <p:nvPr/>
        </p:nvSpPr>
        <p:spPr>
          <a:xfrm>
            <a:off x="8802101" y="1603793"/>
            <a:ext cx="1701876" cy="369332"/>
          </a:xfrm>
          <a:prstGeom prst="rect">
            <a:avLst/>
          </a:prstGeom>
          <a:noFill/>
        </p:spPr>
        <p:txBody>
          <a:bodyPr wrap="none" rtlCol="0">
            <a:spAutoFit/>
          </a:bodyPr>
          <a:lstStyle/>
          <a:p>
            <a:r>
              <a:rPr lang="en-US" dirty="0" err="1"/>
              <a:t>VectorStore</a:t>
            </a:r>
            <a:r>
              <a:rPr lang="en-US" dirty="0"/>
              <a:t> DB</a:t>
            </a:r>
          </a:p>
        </p:txBody>
      </p:sp>
      <p:sp>
        <p:nvSpPr>
          <p:cNvPr id="14" name="Rectangle 13">
            <a:extLst>
              <a:ext uri="{FF2B5EF4-FFF2-40B4-BE49-F238E27FC236}">
                <a16:creationId xmlns:a16="http://schemas.microsoft.com/office/drawing/2014/main" id="{3C61425E-5A3C-16E3-256E-8AED930AB773}"/>
              </a:ext>
            </a:extLst>
          </p:cNvPr>
          <p:cNvSpPr/>
          <p:nvPr/>
        </p:nvSpPr>
        <p:spPr>
          <a:xfrm>
            <a:off x="3523130" y="2514600"/>
            <a:ext cx="2124635" cy="3429000"/>
          </a:xfrm>
          <a:prstGeom prst="rect">
            <a:avLst/>
          </a:prstGeom>
          <a:noFill/>
          <a:ln>
            <a:solidFill>
              <a:schemeClr val="bg1"/>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6660992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BA4D21-FCE3-0EC3-3683-81082FBF6057}"/>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AB9552D3-7D27-5D0C-A554-240D285310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C522DF2D-A1AD-AD77-F09C-9B7AEB0E3096}"/>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lang="en-US" sz="3200" kern="1200">
                <a:solidFill>
                  <a:schemeClr val="bg1"/>
                </a:solidFill>
                <a:latin typeface="+mj-lt"/>
                <a:ea typeface="+mj-ea"/>
                <a:cs typeface="+mj-cs"/>
              </a:rPr>
              <a:t>Important Components of Langchain</a:t>
            </a:r>
            <a:endParaRPr kumimoji="0" lang="en-US" altLang="en-US" sz="3200" b="0" i="0" u="none" strike="noStrike" kern="1200" cap="none" normalizeH="0" baseline="0">
              <a:ln>
                <a:noFill/>
              </a:ln>
              <a:solidFill>
                <a:schemeClr val="bg1"/>
              </a:solidFill>
              <a:effectLst/>
              <a:latin typeface="+mj-lt"/>
              <a:ea typeface="+mj-ea"/>
              <a:cs typeface="+mj-cs"/>
            </a:endParaRPr>
          </a:p>
        </p:txBody>
      </p:sp>
      <p:pic>
        <p:nvPicPr>
          <p:cNvPr id="2" name="Picture 1">
            <a:extLst>
              <a:ext uri="{FF2B5EF4-FFF2-40B4-BE49-F238E27FC236}">
                <a16:creationId xmlns:a16="http://schemas.microsoft.com/office/drawing/2014/main" id="{E8A066E2-4F4A-7C2E-117E-0671C7548C2F}"/>
              </a:ext>
            </a:extLst>
          </p:cNvPr>
          <p:cNvPicPr>
            <a:picLocks noChangeAspect="1"/>
          </p:cNvPicPr>
          <p:nvPr/>
        </p:nvPicPr>
        <p:blipFill>
          <a:blip r:embed="rId2"/>
          <a:stretch>
            <a:fillRect/>
          </a:stretch>
        </p:blipFill>
        <p:spPr>
          <a:xfrm>
            <a:off x="887437" y="2159321"/>
            <a:ext cx="9986821" cy="4394199"/>
          </a:xfrm>
          <a:prstGeom prst="rect">
            <a:avLst/>
          </a:prstGeom>
        </p:spPr>
      </p:pic>
      <p:sp>
        <p:nvSpPr>
          <p:cNvPr id="3" name="TextBox 2">
            <a:extLst>
              <a:ext uri="{FF2B5EF4-FFF2-40B4-BE49-F238E27FC236}">
                <a16:creationId xmlns:a16="http://schemas.microsoft.com/office/drawing/2014/main" id="{8CE96E02-9048-C22C-02AF-E64E3C0BA78A}"/>
              </a:ext>
            </a:extLst>
          </p:cNvPr>
          <p:cNvSpPr txBox="1"/>
          <p:nvPr/>
        </p:nvSpPr>
        <p:spPr>
          <a:xfrm>
            <a:off x="1331260" y="1603793"/>
            <a:ext cx="1411027" cy="369332"/>
          </a:xfrm>
          <a:prstGeom prst="rect">
            <a:avLst/>
          </a:prstGeom>
          <a:noFill/>
        </p:spPr>
        <p:txBody>
          <a:bodyPr wrap="none" rtlCol="0">
            <a:spAutoFit/>
          </a:bodyPr>
          <a:lstStyle/>
          <a:p>
            <a:r>
              <a:rPr lang="en-US" dirty="0"/>
              <a:t>Data Source</a:t>
            </a:r>
          </a:p>
        </p:txBody>
      </p:sp>
      <p:sp>
        <p:nvSpPr>
          <p:cNvPr id="4" name="TextBox 3">
            <a:extLst>
              <a:ext uri="{FF2B5EF4-FFF2-40B4-BE49-F238E27FC236}">
                <a16:creationId xmlns:a16="http://schemas.microsoft.com/office/drawing/2014/main" id="{F34DF15F-D93C-2D2A-F373-DA7D5339F821}"/>
              </a:ext>
            </a:extLst>
          </p:cNvPr>
          <p:cNvSpPr txBox="1"/>
          <p:nvPr/>
        </p:nvSpPr>
        <p:spPr>
          <a:xfrm>
            <a:off x="3668190" y="1603793"/>
            <a:ext cx="2212657" cy="369332"/>
          </a:xfrm>
          <a:prstGeom prst="rect">
            <a:avLst/>
          </a:prstGeom>
          <a:noFill/>
        </p:spPr>
        <p:txBody>
          <a:bodyPr wrap="none" rtlCol="0">
            <a:spAutoFit/>
          </a:bodyPr>
          <a:lstStyle/>
          <a:p>
            <a:r>
              <a:rPr lang="en-US" dirty="0"/>
              <a:t>Data Transformation</a:t>
            </a:r>
          </a:p>
        </p:txBody>
      </p:sp>
      <p:sp>
        <p:nvSpPr>
          <p:cNvPr id="10" name="TextBox 9">
            <a:extLst>
              <a:ext uri="{FF2B5EF4-FFF2-40B4-BE49-F238E27FC236}">
                <a16:creationId xmlns:a16="http://schemas.microsoft.com/office/drawing/2014/main" id="{B4D3103A-A4CC-6CDD-1A86-B6A2341E4294}"/>
              </a:ext>
            </a:extLst>
          </p:cNvPr>
          <p:cNvSpPr txBox="1"/>
          <p:nvPr/>
        </p:nvSpPr>
        <p:spPr>
          <a:xfrm>
            <a:off x="6363701" y="1603793"/>
            <a:ext cx="1314784" cy="369332"/>
          </a:xfrm>
          <a:prstGeom prst="rect">
            <a:avLst/>
          </a:prstGeom>
          <a:noFill/>
        </p:spPr>
        <p:txBody>
          <a:bodyPr wrap="none" rtlCol="0">
            <a:spAutoFit/>
          </a:bodyPr>
          <a:lstStyle/>
          <a:p>
            <a:r>
              <a:rPr lang="en-US" dirty="0"/>
              <a:t>Embedding</a:t>
            </a:r>
          </a:p>
        </p:txBody>
      </p:sp>
      <p:sp>
        <p:nvSpPr>
          <p:cNvPr id="11" name="TextBox 10">
            <a:extLst>
              <a:ext uri="{FF2B5EF4-FFF2-40B4-BE49-F238E27FC236}">
                <a16:creationId xmlns:a16="http://schemas.microsoft.com/office/drawing/2014/main" id="{E12ED97C-1EE0-F5AB-E277-996EFA6D678A}"/>
              </a:ext>
            </a:extLst>
          </p:cNvPr>
          <p:cNvSpPr txBox="1"/>
          <p:nvPr/>
        </p:nvSpPr>
        <p:spPr>
          <a:xfrm>
            <a:off x="8802101" y="1603793"/>
            <a:ext cx="1701876" cy="369332"/>
          </a:xfrm>
          <a:prstGeom prst="rect">
            <a:avLst/>
          </a:prstGeom>
          <a:noFill/>
        </p:spPr>
        <p:txBody>
          <a:bodyPr wrap="none" rtlCol="0">
            <a:spAutoFit/>
          </a:bodyPr>
          <a:lstStyle/>
          <a:p>
            <a:r>
              <a:rPr lang="en-US" dirty="0" err="1"/>
              <a:t>VectorStore</a:t>
            </a:r>
            <a:r>
              <a:rPr lang="en-US" dirty="0"/>
              <a:t> DB</a:t>
            </a:r>
          </a:p>
        </p:txBody>
      </p:sp>
      <p:sp>
        <p:nvSpPr>
          <p:cNvPr id="14" name="Rectangle 13">
            <a:extLst>
              <a:ext uri="{FF2B5EF4-FFF2-40B4-BE49-F238E27FC236}">
                <a16:creationId xmlns:a16="http://schemas.microsoft.com/office/drawing/2014/main" id="{CB97D330-932E-4BCD-DD74-BE119AFA5F19}"/>
              </a:ext>
            </a:extLst>
          </p:cNvPr>
          <p:cNvSpPr/>
          <p:nvPr/>
        </p:nvSpPr>
        <p:spPr>
          <a:xfrm>
            <a:off x="5999116" y="2501152"/>
            <a:ext cx="2124635" cy="3429000"/>
          </a:xfrm>
          <a:prstGeom prst="rect">
            <a:avLst/>
          </a:prstGeom>
          <a:noFill/>
          <a:ln>
            <a:solidFill>
              <a:schemeClr val="bg1"/>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0615222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DCD4A4-03A5-8490-0BAF-7E18E30C60B8}"/>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CCA92D9A-831A-2CF7-5891-BF3E3ABD8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84E3A3A1-D2AB-AC71-3C99-AC9A8F911275}"/>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lang="en-US" sz="3200" kern="1200" dirty="0">
                <a:solidFill>
                  <a:schemeClr val="bg1"/>
                </a:solidFill>
                <a:latin typeface="+mj-lt"/>
                <a:ea typeface="+mj-ea"/>
                <a:cs typeface="+mj-cs"/>
              </a:rPr>
              <a:t>Embedding</a:t>
            </a:r>
            <a:endParaRPr kumimoji="0" lang="en-US" altLang="en-US" sz="3200" b="0" i="0" u="none" strike="noStrike" kern="1200" cap="none" normalizeH="0" baseline="0" dirty="0">
              <a:ln>
                <a:noFill/>
              </a:ln>
              <a:solidFill>
                <a:schemeClr val="bg1"/>
              </a:solidFill>
              <a:effectLst/>
              <a:latin typeface="+mj-lt"/>
              <a:ea typeface="+mj-ea"/>
              <a:cs typeface="+mj-cs"/>
            </a:endParaRPr>
          </a:p>
        </p:txBody>
      </p:sp>
      <p:sp>
        <p:nvSpPr>
          <p:cNvPr id="3" name="TextBox 2">
            <a:extLst>
              <a:ext uri="{FF2B5EF4-FFF2-40B4-BE49-F238E27FC236}">
                <a16:creationId xmlns:a16="http://schemas.microsoft.com/office/drawing/2014/main" id="{6B42623F-8DE2-49CD-8118-8E83A0B0897E}"/>
              </a:ext>
            </a:extLst>
          </p:cNvPr>
          <p:cNvSpPr txBox="1"/>
          <p:nvPr/>
        </p:nvSpPr>
        <p:spPr>
          <a:xfrm>
            <a:off x="1331260" y="1951672"/>
            <a:ext cx="1768818" cy="1477328"/>
          </a:xfrm>
          <a:prstGeom prst="rect">
            <a:avLst/>
          </a:prstGeom>
          <a:noFill/>
        </p:spPr>
        <p:txBody>
          <a:bodyPr wrap="none" rtlCol="0">
            <a:spAutoFit/>
          </a:bodyPr>
          <a:lstStyle/>
          <a:p>
            <a:pPr marL="285750" indent="-285750">
              <a:buFont typeface="Arial" panose="020B0604020202020204" pitchFamily="34" charset="0"/>
              <a:buChar char="•"/>
            </a:pPr>
            <a:r>
              <a:rPr lang="en-US" dirty="0"/>
              <a:t>OpenAI</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Ollama</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HuggingFace</a:t>
            </a:r>
            <a:endParaRPr lang="en-US" dirty="0"/>
          </a:p>
        </p:txBody>
      </p:sp>
      <p:sp>
        <p:nvSpPr>
          <p:cNvPr id="14" name="Rectangle 13">
            <a:extLst>
              <a:ext uri="{FF2B5EF4-FFF2-40B4-BE49-F238E27FC236}">
                <a16:creationId xmlns:a16="http://schemas.microsoft.com/office/drawing/2014/main" id="{5ECA20E1-D856-EC69-41F0-9135E926716B}"/>
              </a:ext>
            </a:extLst>
          </p:cNvPr>
          <p:cNvSpPr/>
          <p:nvPr/>
        </p:nvSpPr>
        <p:spPr>
          <a:xfrm>
            <a:off x="5999116" y="2501152"/>
            <a:ext cx="2124635" cy="3429000"/>
          </a:xfrm>
          <a:prstGeom prst="rect">
            <a:avLst/>
          </a:prstGeom>
          <a:noFill/>
          <a:ln>
            <a:solidFill>
              <a:schemeClr val="bg1"/>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8946839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B4B9D9-7123-5007-1D7C-79E702A25015}"/>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B67AAC54-602B-740C-3935-87D6A3BC95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01F5CD0A-5397-22A0-E8A6-6DE3414B674F}"/>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lang="en-US" sz="3200" kern="1200" dirty="0">
                <a:solidFill>
                  <a:schemeClr val="bg1"/>
                </a:solidFill>
                <a:latin typeface="+mj-lt"/>
                <a:ea typeface="+mj-ea"/>
                <a:cs typeface="+mj-cs"/>
              </a:rPr>
              <a:t>Embedding</a:t>
            </a:r>
            <a:endParaRPr kumimoji="0" lang="en-US" altLang="en-US" sz="3200" b="0" i="0" u="none" strike="noStrike" kern="1200" cap="none" normalizeH="0" baseline="0" dirty="0">
              <a:ln>
                <a:noFill/>
              </a:ln>
              <a:solidFill>
                <a:schemeClr val="bg1"/>
              </a:solidFill>
              <a:effectLst/>
              <a:latin typeface="+mj-lt"/>
              <a:ea typeface="+mj-ea"/>
              <a:cs typeface="+mj-cs"/>
            </a:endParaRPr>
          </a:p>
        </p:txBody>
      </p:sp>
      <p:sp>
        <p:nvSpPr>
          <p:cNvPr id="14" name="Rectangle 13">
            <a:extLst>
              <a:ext uri="{FF2B5EF4-FFF2-40B4-BE49-F238E27FC236}">
                <a16:creationId xmlns:a16="http://schemas.microsoft.com/office/drawing/2014/main" id="{99C34A41-9FB7-B68E-3B8D-06FC66C04B78}"/>
              </a:ext>
            </a:extLst>
          </p:cNvPr>
          <p:cNvSpPr/>
          <p:nvPr/>
        </p:nvSpPr>
        <p:spPr>
          <a:xfrm>
            <a:off x="5999116" y="2501152"/>
            <a:ext cx="2124635" cy="3429000"/>
          </a:xfrm>
          <a:prstGeom prst="rect">
            <a:avLst/>
          </a:prstGeom>
          <a:noFill/>
          <a:ln>
            <a:solidFill>
              <a:schemeClr val="bg1"/>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35F7D053-C36E-10F3-1991-6BBD6C77EA46}"/>
              </a:ext>
            </a:extLst>
          </p:cNvPr>
          <p:cNvGraphicFramePr>
            <a:graphicFrameLocks noGrp="1"/>
          </p:cNvGraphicFramePr>
          <p:nvPr>
            <p:extLst>
              <p:ext uri="{D42A27DB-BD31-4B8C-83A1-F6EECF244321}">
                <p14:modId xmlns:p14="http://schemas.microsoft.com/office/powerpoint/2010/main" val="1131557309"/>
              </p:ext>
            </p:extLst>
          </p:nvPr>
        </p:nvGraphicFramePr>
        <p:xfrm>
          <a:off x="289560" y="2035334"/>
          <a:ext cx="11673840" cy="3718560"/>
        </p:xfrm>
        <a:graphic>
          <a:graphicData uri="http://schemas.openxmlformats.org/drawingml/2006/table">
            <a:tbl>
              <a:tblPr/>
              <a:tblGrid>
                <a:gridCol w="2918460">
                  <a:extLst>
                    <a:ext uri="{9D8B030D-6E8A-4147-A177-3AD203B41FA5}">
                      <a16:colId xmlns:a16="http://schemas.microsoft.com/office/drawing/2014/main" val="4247229846"/>
                    </a:ext>
                  </a:extLst>
                </a:gridCol>
                <a:gridCol w="2918460">
                  <a:extLst>
                    <a:ext uri="{9D8B030D-6E8A-4147-A177-3AD203B41FA5}">
                      <a16:colId xmlns:a16="http://schemas.microsoft.com/office/drawing/2014/main" val="3421438450"/>
                    </a:ext>
                  </a:extLst>
                </a:gridCol>
                <a:gridCol w="3383280">
                  <a:extLst>
                    <a:ext uri="{9D8B030D-6E8A-4147-A177-3AD203B41FA5}">
                      <a16:colId xmlns:a16="http://schemas.microsoft.com/office/drawing/2014/main" val="4067962129"/>
                    </a:ext>
                  </a:extLst>
                </a:gridCol>
                <a:gridCol w="2453640">
                  <a:extLst>
                    <a:ext uri="{9D8B030D-6E8A-4147-A177-3AD203B41FA5}">
                      <a16:colId xmlns:a16="http://schemas.microsoft.com/office/drawing/2014/main" val="2942719530"/>
                    </a:ext>
                  </a:extLst>
                </a:gridCol>
              </a:tblGrid>
              <a:tr h="0">
                <a:tc>
                  <a:txBody>
                    <a:bodyPr/>
                    <a:lstStyle/>
                    <a:p>
                      <a:r>
                        <a:rPr lang="en-IN" sz="2800" b="1"/>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800" b="1"/>
                        <a:t>OpenAI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800" b="1"/>
                        <a:t>Hugging Face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800" b="1" dirty="0" err="1"/>
                        <a:t>Ollama</a:t>
                      </a:r>
                      <a:endParaRPr lang="en-IN" sz="2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6276008"/>
                  </a:ext>
                </a:extLst>
              </a:tr>
              <a:tr h="0">
                <a:tc>
                  <a:txBody>
                    <a:bodyPr/>
                    <a:lstStyle/>
                    <a:p>
                      <a:r>
                        <a:rPr lang="en-IN" sz="2400" b="1"/>
                        <a:t>Quality</a:t>
                      </a:r>
                      <a:endParaRPr lang="en-IN"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a:t>⭐⭐⭐⭐ (varies)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5244476"/>
                  </a:ext>
                </a:extLst>
              </a:tr>
              <a:tr h="0">
                <a:tc>
                  <a:txBody>
                    <a:bodyPr/>
                    <a:lstStyle/>
                    <a:p>
                      <a:r>
                        <a:rPr lang="en-IN" sz="2400" b="1"/>
                        <a:t>Offline Support</a:t>
                      </a:r>
                      <a:endParaRPr lang="en-IN"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3076411"/>
                  </a:ext>
                </a:extLst>
              </a:tr>
              <a:tr h="0">
                <a:tc>
                  <a:txBody>
                    <a:bodyPr/>
                    <a:lstStyle/>
                    <a:p>
                      <a:r>
                        <a:rPr lang="en-IN" sz="2400" b="1"/>
                        <a:t>Open Source</a:t>
                      </a:r>
                      <a:endParaRPr lang="en-IN"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7144352"/>
                  </a:ext>
                </a:extLst>
              </a:tr>
              <a:tr h="0">
                <a:tc>
                  <a:txBody>
                    <a:bodyPr/>
                    <a:lstStyle/>
                    <a:p>
                      <a:r>
                        <a:rPr lang="en-IN" sz="2400" b="1"/>
                        <a:t>Ease of Use</a:t>
                      </a:r>
                      <a:endParaRPr lang="en-IN"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a:t>✅ (simple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1591145"/>
                  </a:ext>
                </a:extLst>
              </a:tr>
              <a:tr h="0">
                <a:tc>
                  <a:txBody>
                    <a:bodyPr/>
                    <a:lstStyle/>
                    <a:p>
                      <a:r>
                        <a:rPr lang="en-IN" sz="2400" b="1"/>
                        <a:t>Customization</a:t>
                      </a:r>
                      <a:endParaRPr lang="en-IN"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3513541"/>
                  </a:ext>
                </a:extLst>
              </a:tr>
              <a:tr h="0">
                <a:tc>
                  <a:txBody>
                    <a:bodyPr/>
                    <a:lstStyle/>
                    <a:p>
                      <a:r>
                        <a:rPr lang="en-IN" sz="2400" b="1"/>
                        <a:t>Cost</a:t>
                      </a:r>
                      <a:endParaRPr lang="en-IN"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a:t>Paid (token)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a:t>Free (local) / Paid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a:t>Free (local)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7908566"/>
                  </a:ext>
                </a:extLst>
              </a:tr>
              <a:tr h="0">
                <a:tc>
                  <a:txBody>
                    <a:bodyPr/>
                    <a:lstStyle/>
                    <a:p>
                      <a:r>
                        <a:rPr lang="en-IN" sz="2400" b="1"/>
                        <a:t>Best For</a:t>
                      </a:r>
                      <a:endParaRPr lang="en-IN"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t>RAG, Prod Cloud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a:t>Offline RAG, Open Dev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t>Local agents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6434495"/>
                  </a:ext>
                </a:extLst>
              </a:tr>
            </a:tbl>
          </a:graphicData>
        </a:graphic>
      </p:graphicFrame>
    </p:spTree>
    <p:extLst>
      <p:ext uri="{BB962C8B-B14F-4D97-AF65-F5344CB8AC3E}">
        <p14:creationId xmlns:p14="http://schemas.microsoft.com/office/powerpoint/2010/main" val="39953760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60E671-8F93-A477-305E-C05CD275F776}"/>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4568BE74-A841-473C-5C32-7D6F035896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0319C882-FB28-1F38-BDF2-776337BB880B}"/>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lang="en-US" sz="3200" kern="1200" dirty="0">
                <a:solidFill>
                  <a:schemeClr val="bg1"/>
                </a:solidFill>
                <a:latin typeface="+mj-lt"/>
                <a:ea typeface="+mj-ea"/>
                <a:cs typeface="+mj-cs"/>
              </a:rPr>
              <a:t>Which one to choose?</a:t>
            </a:r>
            <a:endParaRPr kumimoji="0" lang="en-US" altLang="en-US" sz="3200" b="0" i="0" u="none" strike="noStrike" kern="1200" cap="none" normalizeH="0" baseline="0" dirty="0">
              <a:ln>
                <a:noFill/>
              </a:ln>
              <a:solidFill>
                <a:schemeClr val="bg1"/>
              </a:solidFill>
              <a:effectLst/>
              <a:latin typeface="+mj-lt"/>
              <a:ea typeface="+mj-ea"/>
              <a:cs typeface="+mj-cs"/>
            </a:endParaRPr>
          </a:p>
        </p:txBody>
      </p:sp>
      <p:sp>
        <p:nvSpPr>
          <p:cNvPr id="14" name="Rectangle 13">
            <a:extLst>
              <a:ext uri="{FF2B5EF4-FFF2-40B4-BE49-F238E27FC236}">
                <a16:creationId xmlns:a16="http://schemas.microsoft.com/office/drawing/2014/main" id="{7BB73D58-C0EF-DF34-E346-AFCCDA828AFB}"/>
              </a:ext>
            </a:extLst>
          </p:cNvPr>
          <p:cNvSpPr/>
          <p:nvPr/>
        </p:nvSpPr>
        <p:spPr>
          <a:xfrm>
            <a:off x="5999116" y="2501152"/>
            <a:ext cx="2124635" cy="3429000"/>
          </a:xfrm>
          <a:prstGeom prst="rect">
            <a:avLst/>
          </a:prstGeom>
          <a:noFill/>
          <a:ln>
            <a:solidFill>
              <a:schemeClr val="bg1"/>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762BCBB5-B021-B143-7868-B9CB17CDC004}"/>
              </a:ext>
            </a:extLst>
          </p:cNvPr>
          <p:cNvSpPr txBox="1"/>
          <p:nvPr/>
        </p:nvSpPr>
        <p:spPr>
          <a:xfrm>
            <a:off x="921867" y="1799606"/>
            <a:ext cx="10480254" cy="4832092"/>
          </a:xfrm>
          <a:prstGeom prst="rect">
            <a:avLst/>
          </a:prstGeom>
          <a:noFill/>
        </p:spPr>
        <p:txBody>
          <a:bodyPr wrap="square">
            <a:spAutoFit/>
          </a:bodyPr>
          <a:lstStyle/>
          <a:p>
            <a:pPr>
              <a:buNone/>
            </a:pPr>
            <a:r>
              <a:rPr lang="en-IN" sz="2400" b="1" dirty="0"/>
              <a:t>Use OpenAI</a:t>
            </a:r>
            <a:r>
              <a:rPr lang="en-IN" sz="2400" dirty="0"/>
              <a:t> if:</a:t>
            </a:r>
          </a:p>
          <a:p>
            <a:pPr marL="800100" lvl="1" indent="-342900">
              <a:buFont typeface="Arial" panose="020B0604020202020204" pitchFamily="34" charset="0"/>
              <a:buChar char="•"/>
            </a:pPr>
            <a:r>
              <a:rPr lang="en-IN" sz="2200" dirty="0"/>
              <a:t>You want the </a:t>
            </a:r>
            <a:r>
              <a:rPr lang="en-IN" sz="2200" b="1" dirty="0"/>
              <a:t>highest quality embeddings</a:t>
            </a:r>
            <a:r>
              <a:rPr lang="en-IN" sz="2200" dirty="0"/>
              <a:t>, and cost + cloud is not a concern.</a:t>
            </a:r>
          </a:p>
          <a:p>
            <a:pPr marL="800100" lvl="1" indent="-342900">
              <a:buFont typeface="Arial" panose="020B0604020202020204" pitchFamily="34" charset="0"/>
              <a:buChar char="•"/>
            </a:pPr>
            <a:r>
              <a:rPr lang="en-IN" sz="2200" dirty="0"/>
              <a:t>You're building an </a:t>
            </a:r>
            <a:r>
              <a:rPr lang="en-IN" sz="2200" b="1" dirty="0"/>
              <a:t>enterprise-grade chatbot</a:t>
            </a:r>
            <a:r>
              <a:rPr lang="en-IN" sz="2200" dirty="0"/>
              <a:t> or RAG pipeline.</a:t>
            </a:r>
          </a:p>
          <a:p>
            <a:pPr marL="285750" indent="-285750">
              <a:buFont typeface="Arial" panose="020B0604020202020204" pitchFamily="34" charset="0"/>
              <a:buChar char="•"/>
            </a:pPr>
            <a:endParaRPr lang="en-IN" sz="2400" dirty="0"/>
          </a:p>
          <a:p>
            <a:pPr>
              <a:buNone/>
            </a:pPr>
            <a:r>
              <a:rPr lang="en-IN" sz="2400" b="1" dirty="0"/>
              <a:t>Use Hugging Face</a:t>
            </a:r>
            <a:r>
              <a:rPr lang="en-IN" sz="2400" dirty="0"/>
              <a:t> if:</a:t>
            </a:r>
          </a:p>
          <a:p>
            <a:pPr marL="742950" lvl="1" indent="-285750">
              <a:buFont typeface="Arial" panose="020B0604020202020204" pitchFamily="34" charset="0"/>
              <a:buChar char="•"/>
            </a:pPr>
            <a:r>
              <a:rPr lang="en-IN" sz="2200" dirty="0"/>
              <a:t>You need </a:t>
            </a:r>
            <a:r>
              <a:rPr lang="en-IN" sz="2200" b="1" dirty="0"/>
              <a:t>flexibility</a:t>
            </a:r>
            <a:r>
              <a:rPr lang="en-IN" sz="2200" dirty="0"/>
              <a:t> (local, custom models) or are working in regulated environments.</a:t>
            </a:r>
          </a:p>
          <a:p>
            <a:pPr marL="742950" lvl="1" indent="-285750">
              <a:buFont typeface="Arial" panose="020B0604020202020204" pitchFamily="34" charset="0"/>
              <a:buChar char="•"/>
            </a:pPr>
            <a:r>
              <a:rPr lang="en-IN" sz="2200" dirty="0"/>
              <a:t>You're doing </a:t>
            </a:r>
            <a:r>
              <a:rPr lang="en-IN" sz="2200" b="1" dirty="0"/>
              <a:t>research or experimentation</a:t>
            </a:r>
            <a:r>
              <a:rPr lang="en-IN" sz="2200" dirty="0"/>
              <a:t>.</a:t>
            </a:r>
          </a:p>
          <a:p>
            <a:pPr marL="285750" indent="-285750">
              <a:buFont typeface="Arial" panose="020B0604020202020204" pitchFamily="34" charset="0"/>
              <a:buChar char="•"/>
            </a:pPr>
            <a:endParaRPr lang="en-IN" sz="2400" dirty="0"/>
          </a:p>
          <a:p>
            <a:pPr>
              <a:buNone/>
            </a:pPr>
            <a:r>
              <a:rPr lang="en-IN" sz="2400" b="1" dirty="0"/>
              <a:t>Use </a:t>
            </a:r>
            <a:r>
              <a:rPr lang="en-IN" sz="2400" b="1" dirty="0" err="1"/>
              <a:t>Ollama</a:t>
            </a:r>
            <a:r>
              <a:rPr lang="en-IN" sz="2400" dirty="0"/>
              <a:t> if:</a:t>
            </a:r>
          </a:p>
          <a:p>
            <a:pPr marL="742950" lvl="1" indent="-285750">
              <a:buFont typeface="Arial" panose="020B0604020202020204" pitchFamily="34" charset="0"/>
              <a:buChar char="•"/>
            </a:pPr>
            <a:r>
              <a:rPr lang="en-IN" sz="2200" dirty="0"/>
              <a:t>You want a </a:t>
            </a:r>
            <a:r>
              <a:rPr lang="en-IN" sz="2200" b="1" dirty="0"/>
              <a:t>fast, local, no-internet-required setup</a:t>
            </a:r>
            <a:r>
              <a:rPr lang="en-IN" sz="2200" dirty="0"/>
              <a:t> for prototypes, demos, or privacy-focused tools.</a:t>
            </a:r>
          </a:p>
          <a:p>
            <a:pPr marL="742950" lvl="1" indent="-285750">
              <a:buFont typeface="Arial" panose="020B0604020202020204" pitchFamily="34" charset="0"/>
              <a:buChar char="•"/>
            </a:pPr>
            <a:r>
              <a:rPr lang="en-IN" sz="2200" dirty="0"/>
              <a:t>You're already using </a:t>
            </a:r>
            <a:r>
              <a:rPr lang="en-IN" sz="2200" dirty="0" err="1"/>
              <a:t>Ollama</a:t>
            </a:r>
            <a:r>
              <a:rPr lang="en-IN" sz="2200" dirty="0"/>
              <a:t> for your LLMs.</a:t>
            </a:r>
          </a:p>
        </p:txBody>
      </p:sp>
    </p:spTree>
    <p:extLst>
      <p:ext uri="{BB962C8B-B14F-4D97-AF65-F5344CB8AC3E}">
        <p14:creationId xmlns:p14="http://schemas.microsoft.com/office/powerpoint/2010/main" val="20911589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412A35-D29F-82CF-5529-F7085A306840}"/>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A125538F-1DA1-D47E-D130-8B9136EB3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E8FDC1EB-F848-B14B-FAC3-6821C3D13DCF}"/>
              </a:ext>
            </a:extLst>
          </p:cNvPr>
          <p:cNvSpPr>
            <a:spLocks noChangeArrowheads="1"/>
          </p:cNvSpPr>
          <p:nvPr/>
        </p:nvSpPr>
        <p:spPr bwMode="auto">
          <a:xfrm>
            <a:off x="556532" y="643467"/>
            <a:ext cx="11210925" cy="744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lang="en-US" sz="3200" kern="1200">
                <a:solidFill>
                  <a:schemeClr val="bg1"/>
                </a:solidFill>
                <a:latin typeface="+mj-lt"/>
                <a:ea typeface="+mj-ea"/>
                <a:cs typeface="+mj-cs"/>
              </a:rPr>
              <a:t>Important Components of Langchain</a:t>
            </a:r>
            <a:endParaRPr kumimoji="0" lang="en-US" altLang="en-US" sz="3200" b="0" i="0" u="none" strike="noStrike" kern="1200" cap="none" normalizeH="0" baseline="0">
              <a:ln>
                <a:noFill/>
              </a:ln>
              <a:solidFill>
                <a:schemeClr val="bg1"/>
              </a:solidFill>
              <a:effectLst/>
              <a:latin typeface="+mj-lt"/>
              <a:ea typeface="+mj-ea"/>
              <a:cs typeface="+mj-cs"/>
            </a:endParaRPr>
          </a:p>
        </p:txBody>
      </p:sp>
      <p:pic>
        <p:nvPicPr>
          <p:cNvPr id="2" name="Picture 1">
            <a:extLst>
              <a:ext uri="{FF2B5EF4-FFF2-40B4-BE49-F238E27FC236}">
                <a16:creationId xmlns:a16="http://schemas.microsoft.com/office/drawing/2014/main" id="{E00234F7-CABF-7C2C-5944-51F8D17E398E}"/>
              </a:ext>
            </a:extLst>
          </p:cNvPr>
          <p:cNvPicPr>
            <a:picLocks noChangeAspect="1"/>
          </p:cNvPicPr>
          <p:nvPr/>
        </p:nvPicPr>
        <p:blipFill>
          <a:blip r:embed="rId2"/>
          <a:stretch>
            <a:fillRect/>
          </a:stretch>
        </p:blipFill>
        <p:spPr>
          <a:xfrm>
            <a:off x="684237" y="2159321"/>
            <a:ext cx="9986821" cy="4394199"/>
          </a:xfrm>
          <a:prstGeom prst="rect">
            <a:avLst/>
          </a:prstGeom>
        </p:spPr>
      </p:pic>
      <p:sp>
        <p:nvSpPr>
          <p:cNvPr id="3" name="TextBox 2">
            <a:extLst>
              <a:ext uri="{FF2B5EF4-FFF2-40B4-BE49-F238E27FC236}">
                <a16:creationId xmlns:a16="http://schemas.microsoft.com/office/drawing/2014/main" id="{364E77C0-631B-9E57-A9AD-A5EF6AB96C01}"/>
              </a:ext>
            </a:extLst>
          </p:cNvPr>
          <p:cNvSpPr txBox="1"/>
          <p:nvPr/>
        </p:nvSpPr>
        <p:spPr>
          <a:xfrm>
            <a:off x="1128060" y="1603793"/>
            <a:ext cx="1411027" cy="369332"/>
          </a:xfrm>
          <a:prstGeom prst="rect">
            <a:avLst/>
          </a:prstGeom>
          <a:noFill/>
        </p:spPr>
        <p:txBody>
          <a:bodyPr wrap="none" rtlCol="0">
            <a:spAutoFit/>
          </a:bodyPr>
          <a:lstStyle/>
          <a:p>
            <a:r>
              <a:rPr lang="en-US" dirty="0"/>
              <a:t>Data Source</a:t>
            </a:r>
          </a:p>
        </p:txBody>
      </p:sp>
      <p:sp>
        <p:nvSpPr>
          <p:cNvPr id="4" name="TextBox 3">
            <a:extLst>
              <a:ext uri="{FF2B5EF4-FFF2-40B4-BE49-F238E27FC236}">
                <a16:creationId xmlns:a16="http://schemas.microsoft.com/office/drawing/2014/main" id="{D889F2BA-164E-11F6-648C-6AC9B32004D9}"/>
              </a:ext>
            </a:extLst>
          </p:cNvPr>
          <p:cNvSpPr txBox="1"/>
          <p:nvPr/>
        </p:nvSpPr>
        <p:spPr>
          <a:xfrm>
            <a:off x="3464990" y="1603793"/>
            <a:ext cx="2212657" cy="369332"/>
          </a:xfrm>
          <a:prstGeom prst="rect">
            <a:avLst/>
          </a:prstGeom>
          <a:noFill/>
        </p:spPr>
        <p:txBody>
          <a:bodyPr wrap="none" rtlCol="0">
            <a:spAutoFit/>
          </a:bodyPr>
          <a:lstStyle/>
          <a:p>
            <a:r>
              <a:rPr lang="en-US" dirty="0"/>
              <a:t>Data Transformation</a:t>
            </a:r>
          </a:p>
        </p:txBody>
      </p:sp>
      <p:sp>
        <p:nvSpPr>
          <p:cNvPr id="10" name="TextBox 9">
            <a:extLst>
              <a:ext uri="{FF2B5EF4-FFF2-40B4-BE49-F238E27FC236}">
                <a16:creationId xmlns:a16="http://schemas.microsoft.com/office/drawing/2014/main" id="{B413B559-3074-4C29-07CE-1E1E84049B08}"/>
              </a:ext>
            </a:extLst>
          </p:cNvPr>
          <p:cNvSpPr txBox="1"/>
          <p:nvPr/>
        </p:nvSpPr>
        <p:spPr>
          <a:xfrm>
            <a:off x="6160501" y="1603793"/>
            <a:ext cx="1314784" cy="369332"/>
          </a:xfrm>
          <a:prstGeom prst="rect">
            <a:avLst/>
          </a:prstGeom>
          <a:noFill/>
        </p:spPr>
        <p:txBody>
          <a:bodyPr wrap="none" rtlCol="0">
            <a:spAutoFit/>
          </a:bodyPr>
          <a:lstStyle/>
          <a:p>
            <a:r>
              <a:rPr lang="en-US" dirty="0"/>
              <a:t>Embedding</a:t>
            </a:r>
          </a:p>
        </p:txBody>
      </p:sp>
      <p:sp>
        <p:nvSpPr>
          <p:cNvPr id="11" name="TextBox 10">
            <a:extLst>
              <a:ext uri="{FF2B5EF4-FFF2-40B4-BE49-F238E27FC236}">
                <a16:creationId xmlns:a16="http://schemas.microsoft.com/office/drawing/2014/main" id="{55C5B3FE-E306-5107-97AE-4A5D3ACE6017}"/>
              </a:ext>
            </a:extLst>
          </p:cNvPr>
          <p:cNvSpPr txBox="1"/>
          <p:nvPr/>
        </p:nvSpPr>
        <p:spPr>
          <a:xfrm>
            <a:off x="8598901" y="1603793"/>
            <a:ext cx="1701876" cy="369332"/>
          </a:xfrm>
          <a:prstGeom prst="rect">
            <a:avLst/>
          </a:prstGeom>
          <a:noFill/>
        </p:spPr>
        <p:txBody>
          <a:bodyPr wrap="none" rtlCol="0">
            <a:spAutoFit/>
          </a:bodyPr>
          <a:lstStyle/>
          <a:p>
            <a:r>
              <a:rPr lang="en-US" dirty="0" err="1"/>
              <a:t>VectorStore</a:t>
            </a:r>
            <a:r>
              <a:rPr lang="en-US" dirty="0"/>
              <a:t> DB</a:t>
            </a:r>
          </a:p>
        </p:txBody>
      </p:sp>
      <p:sp>
        <p:nvSpPr>
          <p:cNvPr id="12" name="TextBox 11">
            <a:extLst>
              <a:ext uri="{FF2B5EF4-FFF2-40B4-BE49-F238E27FC236}">
                <a16:creationId xmlns:a16="http://schemas.microsoft.com/office/drawing/2014/main" id="{A3045719-849D-71C0-ED67-E48E70985C22}"/>
              </a:ext>
            </a:extLst>
          </p:cNvPr>
          <p:cNvSpPr txBox="1"/>
          <p:nvPr/>
        </p:nvSpPr>
        <p:spPr>
          <a:xfrm>
            <a:off x="10693470" y="2159321"/>
            <a:ext cx="1334724" cy="830997"/>
          </a:xfrm>
          <a:prstGeom prst="rect">
            <a:avLst/>
          </a:prstGeom>
          <a:noFill/>
        </p:spPr>
        <p:txBody>
          <a:bodyPr wrap="none" rtlCol="0">
            <a:spAutoFit/>
          </a:bodyPr>
          <a:lstStyle/>
          <a:p>
            <a:r>
              <a:rPr lang="en-US" sz="1600" dirty="0"/>
              <a:t>FAISS</a:t>
            </a:r>
          </a:p>
          <a:p>
            <a:r>
              <a:rPr lang="en-US" sz="1600" dirty="0"/>
              <a:t>CHROMA DB</a:t>
            </a:r>
          </a:p>
          <a:p>
            <a:r>
              <a:rPr lang="en-US" sz="1600" dirty="0"/>
              <a:t>ASTRA DB</a:t>
            </a:r>
          </a:p>
        </p:txBody>
      </p:sp>
      <p:sp>
        <p:nvSpPr>
          <p:cNvPr id="14" name="Rectangle 13">
            <a:extLst>
              <a:ext uri="{FF2B5EF4-FFF2-40B4-BE49-F238E27FC236}">
                <a16:creationId xmlns:a16="http://schemas.microsoft.com/office/drawing/2014/main" id="{6057B45A-EBB8-22E6-F2C5-CCFCDB87C141}"/>
              </a:ext>
            </a:extLst>
          </p:cNvPr>
          <p:cNvSpPr/>
          <p:nvPr/>
        </p:nvSpPr>
        <p:spPr>
          <a:xfrm>
            <a:off x="8347180" y="2547925"/>
            <a:ext cx="2124635" cy="3429000"/>
          </a:xfrm>
          <a:prstGeom prst="rect">
            <a:avLst/>
          </a:prstGeom>
          <a:noFill/>
          <a:ln>
            <a:solidFill>
              <a:schemeClr val="bg1"/>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507306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54DA9-7CBA-41BA-353E-39728C11D78D}"/>
              </a:ext>
            </a:extLst>
          </p:cNvPr>
          <p:cNvSpPr>
            <a:spLocks noGrp="1"/>
          </p:cNvSpPr>
          <p:nvPr>
            <p:ph type="title"/>
          </p:nvPr>
        </p:nvSpPr>
        <p:spPr>
          <a:xfrm>
            <a:off x="838200" y="2103437"/>
            <a:ext cx="10515600" cy="1325563"/>
          </a:xfrm>
        </p:spPr>
        <p:txBody>
          <a:bodyPr/>
          <a:lstStyle/>
          <a:p>
            <a:pPr algn="ctr"/>
            <a:r>
              <a:rPr lang="en-US" dirty="0"/>
              <a:t>Appendix </a:t>
            </a:r>
          </a:p>
        </p:txBody>
      </p:sp>
    </p:spTree>
    <p:extLst>
      <p:ext uri="{BB962C8B-B14F-4D97-AF65-F5344CB8AC3E}">
        <p14:creationId xmlns:p14="http://schemas.microsoft.com/office/powerpoint/2010/main" val="600279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F9D9C-9DA5-343F-350C-6824C57C8B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FA7882-5842-3FDA-90EF-44186CE5B594}"/>
              </a:ext>
            </a:extLst>
          </p:cNvPr>
          <p:cNvSpPr>
            <a:spLocks noGrp="1"/>
          </p:cNvSpPr>
          <p:nvPr>
            <p:ph idx="1"/>
          </p:nvPr>
        </p:nvSpPr>
        <p:spPr/>
        <p:txBody>
          <a:bodyPr/>
          <a:lstStyle/>
          <a:p>
            <a:r>
              <a:rPr lang="en-US" dirty="0"/>
              <a:t>https://</a:t>
            </a:r>
            <a:r>
              <a:rPr lang="en-US" dirty="0" err="1"/>
              <a:t>vimeo.com</a:t>
            </a:r>
            <a:r>
              <a:rPr lang="en-US" dirty="0"/>
              <a:t>/1052265114</a:t>
            </a:r>
          </a:p>
        </p:txBody>
      </p:sp>
    </p:spTree>
    <p:extLst>
      <p:ext uri="{BB962C8B-B14F-4D97-AF65-F5344CB8AC3E}">
        <p14:creationId xmlns:p14="http://schemas.microsoft.com/office/powerpoint/2010/main" val="35940041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D811F5E-CF92-5EE0-AD6B-B0BD1ED637B8}"/>
              </a:ext>
            </a:extLst>
          </p:cNvPr>
          <p:cNvGraphicFramePr>
            <a:graphicFrameLocks noGrp="1"/>
          </p:cNvGraphicFramePr>
          <p:nvPr>
            <p:extLst>
              <p:ext uri="{D42A27DB-BD31-4B8C-83A1-F6EECF244321}">
                <p14:modId xmlns:p14="http://schemas.microsoft.com/office/powerpoint/2010/main" val="3881343819"/>
              </p:ext>
            </p:extLst>
          </p:nvPr>
        </p:nvGraphicFramePr>
        <p:xfrm>
          <a:off x="177800" y="88410"/>
          <a:ext cx="11836400" cy="6681180"/>
        </p:xfrm>
        <a:graphic>
          <a:graphicData uri="http://schemas.openxmlformats.org/drawingml/2006/table">
            <a:tbl>
              <a:tblPr/>
              <a:tblGrid>
                <a:gridCol w="1861767">
                  <a:extLst>
                    <a:ext uri="{9D8B030D-6E8A-4147-A177-3AD203B41FA5}">
                      <a16:colId xmlns:a16="http://schemas.microsoft.com/office/drawing/2014/main" val="1905112683"/>
                    </a:ext>
                  </a:extLst>
                </a:gridCol>
                <a:gridCol w="4796208">
                  <a:extLst>
                    <a:ext uri="{9D8B030D-6E8A-4147-A177-3AD203B41FA5}">
                      <a16:colId xmlns:a16="http://schemas.microsoft.com/office/drawing/2014/main" val="2140496782"/>
                    </a:ext>
                  </a:extLst>
                </a:gridCol>
                <a:gridCol w="5178425">
                  <a:extLst>
                    <a:ext uri="{9D8B030D-6E8A-4147-A177-3AD203B41FA5}">
                      <a16:colId xmlns:a16="http://schemas.microsoft.com/office/drawing/2014/main" val="1432039514"/>
                    </a:ext>
                  </a:extLst>
                </a:gridCol>
              </a:tblGrid>
              <a:tr h="461017">
                <a:tc>
                  <a:txBody>
                    <a:bodyPr/>
                    <a:lstStyle/>
                    <a:p>
                      <a:r>
                        <a:rPr lang="en-IN" sz="2800" b="1" dirty="0"/>
                        <a:t>Aspect</a:t>
                      </a:r>
                      <a:endParaRPr lang="en-IN" sz="2800" dirty="0"/>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800" b="1" dirty="0"/>
                        <a:t>Traditional ML / LLM</a:t>
                      </a:r>
                      <a:endParaRPr lang="en-IN" sz="2800" dirty="0"/>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800" b="1" dirty="0"/>
                        <a:t>Agentic AI</a:t>
                      </a:r>
                      <a:endParaRPr lang="en-IN" sz="2800" dirty="0"/>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5134245"/>
                  </a:ext>
                </a:extLst>
              </a:tr>
              <a:tr h="1744655">
                <a:tc>
                  <a:txBody>
                    <a:bodyPr/>
                    <a:lstStyle/>
                    <a:p>
                      <a:r>
                        <a:rPr lang="en-IN" sz="1600" b="1" dirty="0"/>
                        <a:t>Task</a:t>
                      </a:r>
                      <a:endParaRPr lang="en-IN" sz="1600" dirty="0"/>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b="1"/>
                        <a:t>One-shot response</a:t>
                      </a:r>
                      <a:r>
                        <a:rPr lang="en-IN" sz="1600"/>
                        <a:t>: You give an input (like a prompt or data), it gives an output in a single step. Example: "Summarize this article" → summary generated.</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b="1" dirty="0"/>
                        <a:t>Multi-step goal pursuit</a:t>
                      </a:r>
                      <a:r>
                        <a:rPr lang="en-IN" sz="1600" dirty="0"/>
                        <a:t>: It doesn't stop at one reply. It breaks down goals into steps, makes decisions, and continues until the goal is achieved. Example: "</a:t>
                      </a:r>
                      <a:r>
                        <a:rPr lang="en-IN" sz="1600" dirty="0" err="1"/>
                        <a:t>Analyze</a:t>
                      </a:r>
                      <a:r>
                        <a:rPr lang="en-IN" sz="1600" dirty="0"/>
                        <a:t> market trends and recommend top 3 stocks."</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3493056"/>
                  </a:ext>
                </a:extLst>
              </a:tr>
              <a:tr h="1325128">
                <a:tc>
                  <a:txBody>
                    <a:bodyPr/>
                    <a:lstStyle/>
                    <a:p>
                      <a:r>
                        <a:rPr lang="en-IN" sz="1600" b="1"/>
                        <a:t>Memory</a:t>
                      </a:r>
                      <a:endParaRPr lang="en-IN" sz="1600"/>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b="1"/>
                        <a:t>Stateless</a:t>
                      </a:r>
                      <a:r>
                        <a:rPr lang="en-IN" sz="1600"/>
                        <a:t>: No memory of previous tasks or interactions. It reacts only to the current input.</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b="1"/>
                        <a:t>Maintains memory/state</a:t>
                      </a:r>
                      <a:r>
                        <a:rPr lang="en-IN" sz="1600"/>
                        <a:t>: Remembers past actions, context, and decisions during or across sessions. Useful for long tasks and personalized experiences.</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3854628"/>
                  </a:ext>
                </a:extLst>
              </a:tr>
              <a:tr h="1115364">
                <a:tc>
                  <a:txBody>
                    <a:bodyPr/>
                    <a:lstStyle/>
                    <a:p>
                      <a:r>
                        <a:rPr lang="en-IN" sz="1600" b="1"/>
                        <a:t>Tools</a:t>
                      </a:r>
                      <a:endParaRPr lang="en-IN" sz="1600"/>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b="1"/>
                        <a:t>Passive usage</a:t>
                      </a:r>
                      <a:r>
                        <a:rPr lang="en-IN" sz="1600"/>
                        <a:t>: May use tools via prompt chaining or plugins, but doesn’t actively decide when/how to use them.</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b="1"/>
                        <a:t>Actively uses tools/APIs</a:t>
                      </a:r>
                      <a:r>
                        <a:rPr lang="en-IN" sz="1600"/>
                        <a:t>: Chooses which tools to use, when, and how—like searching the web, calling APIs, or using a calculator mid-task.</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9136665"/>
                  </a:ext>
                </a:extLst>
              </a:tr>
              <a:tr h="905601">
                <a:tc>
                  <a:txBody>
                    <a:bodyPr/>
                    <a:lstStyle/>
                    <a:p>
                      <a:r>
                        <a:rPr lang="en-IN" sz="1600" b="1"/>
                        <a:t>Control Flow</a:t>
                      </a:r>
                      <a:endParaRPr lang="en-IN" sz="1600"/>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b="1"/>
                        <a:t>Prompt in → Response out</a:t>
                      </a:r>
                      <a:r>
                        <a:rPr lang="en-IN" sz="1600"/>
                        <a:t>: It reacts and replies. No loops, decisions, or branching logic.</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b="1"/>
                        <a:t>Plans, loops, branches</a:t>
                      </a:r>
                      <a:r>
                        <a:rPr lang="en-IN" sz="1600"/>
                        <a:t>: It builds a plan, adapts as it works, can retry, branch out, or delegate tasks to other agents.</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4609615"/>
                  </a:ext>
                </a:extLst>
              </a:tr>
              <a:tr h="1115364">
                <a:tc>
                  <a:txBody>
                    <a:bodyPr/>
                    <a:lstStyle/>
                    <a:p>
                      <a:r>
                        <a:rPr lang="en-IN" sz="1600" b="1"/>
                        <a:t>Use Case</a:t>
                      </a:r>
                      <a:endParaRPr lang="en-IN" sz="1600"/>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b="1"/>
                        <a:t>Q&amp;A, classification, regression</a:t>
                      </a:r>
                      <a:r>
                        <a:rPr lang="en-IN" sz="1600"/>
                        <a:t>: Predictive tasks, summarization, translation, document parsing.</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b="1" dirty="0"/>
                        <a:t>Workflow automation, orchestration</a:t>
                      </a:r>
                      <a:r>
                        <a:rPr lang="en-IN" sz="1600" dirty="0"/>
                        <a:t>: End-to-end task execution, such as automating research, filling reports, or coordinating agents.</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4064793"/>
                  </a:ext>
                </a:extLst>
              </a:tr>
            </a:tbl>
          </a:graphicData>
        </a:graphic>
      </p:graphicFrame>
    </p:spTree>
    <p:extLst>
      <p:ext uri="{BB962C8B-B14F-4D97-AF65-F5344CB8AC3E}">
        <p14:creationId xmlns:p14="http://schemas.microsoft.com/office/powerpoint/2010/main" val="3237241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10967</TotalTime>
  <Words>2404</Words>
  <Application>Microsoft Macintosh PowerPoint</Application>
  <PresentationFormat>Widescreen</PresentationFormat>
  <Paragraphs>346</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Aptos</vt:lpstr>
      <vt:lpstr>Aptos Display</vt:lpstr>
      <vt:lpstr>Arial</vt:lpstr>
      <vt:lpstr>inherit</vt:lpstr>
      <vt:lpstr>Office Theme</vt:lpstr>
      <vt:lpstr>Agentic 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vikas chandra</dc:creator>
  <cp:lastModifiedBy>vikas chandra</cp:lastModifiedBy>
  <cp:revision>49</cp:revision>
  <dcterms:created xsi:type="dcterms:W3CDTF">2025-05-22T15:29:23Z</dcterms:created>
  <dcterms:modified xsi:type="dcterms:W3CDTF">2025-05-30T06:16:25Z</dcterms:modified>
</cp:coreProperties>
</file>